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r/6yAmEkajdSRnwo5pgratfzO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800"/>
              </a:spcAft>
              <a:buClr>
                <a:schemeClr val="dk1"/>
              </a:buClr>
              <a:buSzPts val="1100"/>
              <a:buFont typeface="Arial"/>
              <a:buNone/>
            </a:pPr>
            <a:r>
              <a:rPr lang="en-US" sz="1200">
                <a:solidFill>
                  <a:schemeClr val="dk1"/>
                </a:solidFill>
                <a:latin typeface="Aptos"/>
                <a:ea typeface="Aptos"/>
                <a:cs typeface="Aptos"/>
                <a:sym typeface="Aptos"/>
              </a:rPr>
              <a:t>Good afternoon. Today’s presentation, Predicting Bank Customer Churn with Random Forest Modeling, explores how predictive analytics can drive targeted retention strategies and deliver measurable business impact.</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0"/>
              </a:spcAft>
              <a:buClr>
                <a:schemeClr val="dk1"/>
              </a:buClr>
              <a:buSzPts val="1100"/>
              <a:buFont typeface="Arial"/>
              <a:buNone/>
            </a:pPr>
            <a:r>
              <a:rPr lang="en-US" sz="1200">
                <a:solidFill>
                  <a:schemeClr val="dk1"/>
                </a:solidFill>
                <a:latin typeface="Aptos"/>
                <a:ea typeface="Aptos"/>
                <a:cs typeface="Aptos"/>
                <a:sym typeface="Aptos"/>
              </a:rPr>
              <a:t>The core challenge I’m addressing in this project is customer churn in the banking industry. Churn represents a major financial risk, when customers leave, banks not only lose revenue but also face higher costs to acquire new ones. Traditional retention strategies tend to be reactive and imprecise, making it difficult to intervene before a customer decides to leave.</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My hypothesis is that by applying supervised machine learning techniques to historical customer data, we can predict churn risk with a high degree of accuracy. In doing this, we can uncover the behavioral and demographic drivers behind that risk, which allows the business to act early, implementing personalized retention strategies that reduce churn and ultimately improve profitability.</a:t>
            </a:r>
            <a:endParaRPr sz="1200">
              <a:solidFill>
                <a:schemeClr val="dk1"/>
              </a:solidFill>
              <a:latin typeface="Aptos"/>
              <a:ea typeface="Aptos"/>
              <a:cs typeface="Aptos"/>
              <a:sym typeface="Aptos"/>
            </a:endParaRPr>
          </a:p>
          <a:p>
            <a:pPr indent="0" lvl="0" marL="0" rtl="0" algn="l">
              <a:spcBef>
                <a:spcPts val="80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0"/>
              </a:spcAft>
              <a:buClr>
                <a:schemeClr val="dk1"/>
              </a:buClr>
              <a:buSzPts val="1100"/>
              <a:buFont typeface="Arial"/>
              <a:buNone/>
            </a:pPr>
            <a:r>
              <a:rPr lang="en-US" sz="1200">
                <a:solidFill>
                  <a:schemeClr val="dk1"/>
                </a:solidFill>
                <a:latin typeface="Aptos"/>
                <a:ea typeface="Aptos"/>
                <a:cs typeface="Aptos"/>
                <a:sym typeface="Aptos"/>
              </a:rPr>
              <a:t>This slide outlines the key steps taken to transform raw customer data into actionable insights that support retention efforts.</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Step 1: Collect the data</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The process began with analyzing over 10,000 customer records from a financial institution. This included variables like age, tenure, account balance, credit score, and product usage. These data points were selected for their relevance to churn risk.</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Step 2: Clean and prepare</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Next, the data was cleaned and standardized, removing duplicates, handling missing values, and converting categories into usable formats. This ensured the model would be built on reliable, high-quality inputs.</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Step 3: Build the model</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A Random Forest model was developed to predict which customers were most likely to leave. This method was chosen for its strong performance and ability to highlight which factors most influence churn.</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Step 4: Model Evaluation</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The model achieved 85.2% accuracy and a ROC-AUC score of 0.85, meaning it could reliably distinguish between customers who stayed and those who left. According to Valeriu Crudu in an article published by MoldStud, In most business applications, an accuracy above 80% and a ROC-AUC above 0.75 are considered strong indicators of reliable model performance, especially when predicting complex behaviors like customer churn.</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Step 5: Generate Insights</a:t>
            </a:r>
            <a:endParaRPr sz="1200">
              <a:solidFill>
                <a:srgbClr val="A6A6A6"/>
              </a:solidFill>
              <a:latin typeface="Aptos"/>
              <a:ea typeface="Aptos"/>
              <a:cs typeface="Aptos"/>
              <a:sym typeface="Aptos"/>
            </a:endParaRPr>
          </a:p>
          <a:p>
            <a:pPr indent="0" lvl="0" marL="0" rtl="0" algn="l">
              <a:lnSpc>
                <a:spcPct val="115833"/>
              </a:lnSpc>
              <a:spcBef>
                <a:spcPts val="800"/>
              </a:spcBef>
              <a:spcAft>
                <a:spcPts val="800"/>
              </a:spcAft>
              <a:buClr>
                <a:schemeClr val="dk1"/>
              </a:buClr>
              <a:buSzPts val="1100"/>
              <a:buFont typeface="Arial"/>
              <a:buNone/>
            </a:pPr>
            <a:r>
              <a:rPr lang="en-US" sz="1200">
                <a:solidFill>
                  <a:schemeClr val="dk1"/>
                </a:solidFill>
                <a:latin typeface="Aptos"/>
                <a:ea typeface="Aptos"/>
                <a:cs typeface="Aptos"/>
                <a:sym typeface="Aptos"/>
              </a:rPr>
              <a:t>Finally, the model was used to produce a prioritized list of high-value customers at risk of churn, specifically those with the highest account balances and greatest financial value to the bank. These insights enable targeted outreach and support smarter retention strategies, helping reduce potential revenue loss and improve overall customer lifetime value.</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0"/>
              </a:spcAft>
              <a:buClr>
                <a:schemeClr val="dk1"/>
              </a:buClr>
              <a:buSzPts val="1100"/>
              <a:buFont typeface="Arial"/>
              <a:buNone/>
            </a:pPr>
            <a:r>
              <a:rPr lang="en-US" sz="1200">
                <a:solidFill>
                  <a:schemeClr val="dk1"/>
                </a:solidFill>
                <a:latin typeface="Aptos"/>
                <a:ea typeface="Aptos"/>
                <a:cs typeface="Aptos"/>
                <a:sym typeface="Aptos"/>
              </a:rPr>
              <a:t>This slide highlights the most important takeaways from the churn prediction analysis, focusing on model performance, targeting strategy, and business impact.</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Strong Model Performance</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The predictive model demonstrated high reliability, correctly identifying customer behavior in over 85% of cases. A performance score of 0.85 confirms its ability to separate likely churners from loyal customers across varying risk levels. These results exceed industry benchmarks and validate the model for operational use. </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Real-World Accuracy</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Looking at the test results, the model correctly classified over 1,700 customers. While most predictions aligned with actual outcomes, 198 churned customers were misclassified as retained. This highlights an opportunity to further refine the model, particularly through threshold tuning or feature enhancements.</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Financial Impact Prioritization</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Among the high-risk group, customers were ranked by account balance to focus retention efforts on those with the greatest financial value to the bank. This risk-based targeting framework transforms raw model output into actionable intelligence, supporting return-on-investment-driven outreach and smarter resource allocation</a:t>
            </a:r>
            <a:endParaRPr sz="1200">
              <a:solidFill>
                <a:schemeClr val="dk1"/>
              </a:solidFill>
              <a:latin typeface="Aptos"/>
              <a:ea typeface="Aptos"/>
              <a:cs typeface="Aptos"/>
              <a:sym typeface="Aptos"/>
            </a:endParaRPr>
          </a:p>
          <a:p>
            <a:pPr indent="0" lvl="0" marL="0" rtl="0" algn="l">
              <a:spcBef>
                <a:spcPts val="80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0"/>
              </a:spcAft>
              <a:buClr>
                <a:schemeClr val="dk1"/>
              </a:buClr>
              <a:buSzPts val="1100"/>
              <a:buFont typeface="Arial"/>
              <a:buNone/>
            </a:pPr>
            <a:r>
              <a:rPr lang="en-US" sz="1200">
                <a:solidFill>
                  <a:schemeClr val="dk1"/>
                </a:solidFill>
                <a:latin typeface="Aptos"/>
                <a:ea typeface="Aptos"/>
                <a:cs typeface="Aptos"/>
                <a:sym typeface="Aptos"/>
              </a:rPr>
              <a:t>This slide outlines some of the key limitations of the tools and techniques used in the analysis, which provides important context for interpreting the results and planning next steps.</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Data Constraints</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The dataset used was clean and well-labeled, which helped accelerate development. However, it didn’t include behavioral or emotional indicators, like customer sentiment or engagement patterns, that could have added depth to the predictions.</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Also, only 20% of customers were labeled as churned. That imbalance can make it harder for the model to detect patterns among those who actually left.</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Preparation Tradeoffs</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To maintain consistency, missing data was removed. While this preserved data quality, it also reduced the number of customers available for analysis.</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Outliers were adjusted to prevent skewed results, but this may have masked meaningful behaviors, especially in features like age, credit score, or product usage.</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Model Transparency</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The Random Forest model is highly accurate, but it’s not easy to explain. Its decision-making process involves many layers, which can make it difficult to interpret or communicate clearly.</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Additionally, some customer traits, like location, were converted into numeric codes. This helps the model but makes the results less intuitive for stakeholders.</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Feature Selection Limitations</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Statistical filters were used to select which customer traits to include. While this improved model stability, it may have excluded business-relevant features that didn’t meet strict criteria.</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Threshold Strategy</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A dual-threshold approach was used: one for general churn detection, and a stricter one for identifying high-risk customers.</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This helped focus retention efforts on the most valuable accounts, but may have missed others who were still likely to leave.</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Closing Transition</a:t>
            </a:r>
            <a:br>
              <a:rPr lang="en-US" sz="1200">
                <a:solidFill>
                  <a:schemeClr val="dk1"/>
                </a:solidFill>
                <a:latin typeface="Aptos"/>
                <a:ea typeface="Aptos"/>
                <a:cs typeface="Aptos"/>
                <a:sym typeface="Aptos"/>
              </a:rPr>
            </a:br>
            <a:r>
              <a:rPr lang="en-US" sz="1200">
                <a:solidFill>
                  <a:schemeClr val="dk1"/>
                </a:solidFill>
                <a:latin typeface="Aptos"/>
                <a:ea typeface="Aptos"/>
                <a:cs typeface="Aptos"/>
                <a:sym typeface="Aptos"/>
              </a:rPr>
              <a:t>These limitations don’t undermine the model’s value; they simply highlight areas for future refinement. Addressing them can help improve sensitivity, interpretability, and long-term scalability.</a:t>
            </a:r>
            <a:endParaRPr sz="1200">
              <a:solidFill>
                <a:schemeClr val="dk1"/>
              </a:solidFill>
              <a:latin typeface="Aptos"/>
              <a:ea typeface="Aptos"/>
              <a:cs typeface="Aptos"/>
              <a:sym typeface="Aptos"/>
            </a:endParaRPr>
          </a:p>
          <a:p>
            <a:pPr indent="0" lvl="0" marL="0" rtl="0" algn="l">
              <a:spcBef>
                <a:spcPts val="80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0"/>
              </a:spcAft>
              <a:buClr>
                <a:schemeClr val="dk1"/>
              </a:buClr>
              <a:buSzPts val="1100"/>
              <a:buFont typeface="Arial"/>
              <a:buNone/>
            </a:pPr>
            <a:r>
              <a:rPr lang="en-US" sz="1200">
                <a:solidFill>
                  <a:schemeClr val="dk1"/>
                </a:solidFill>
                <a:latin typeface="Aptos"/>
                <a:ea typeface="Aptos"/>
                <a:cs typeface="Aptos"/>
                <a:sym typeface="Aptos"/>
              </a:rPr>
              <a:t>This slide outlines the recommended next steps based on the model’s findings. Each action is designed to translate predictive insights into meaningful business impact.</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Targeted Retention Strategy</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First, outreach efforts should focus on customers who are both likely to churn and hold substantial account value. Prioritizing these individuals ensures that retention resources are directed toward relationships with the greatest financial impact.</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Stakeholder Dashboards</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To support transparency and cross-functional alignment, dashboards can be developed that visualize churn risk and account importance. These tools will help business units make informed decisions and monitor progress in real time.</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Segment-Specific Modeling</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Creating separate models for distinct customer segments, such as geography, tenure, or product usage, can improve targeting precision and fairness. This approach allows retention strategies to be tailored to the unique needs and value of each segment.</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Behavioral and Sentiment Enrichment</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Finally, enriching the dataset with behavioral signals, like interaction logs, support tickets, or sentiment scores, can help detect early signs of disengagement. These qualitative indicators enable more empathetic and proactive retention strategies.</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rgbClr val="A6A6A6"/>
                </a:solidFill>
                <a:latin typeface="Aptos"/>
                <a:ea typeface="Aptos"/>
                <a:cs typeface="Aptos"/>
                <a:sym typeface="Aptos"/>
              </a:rPr>
              <a:t>Closing Transition</a:t>
            </a:r>
            <a:endParaRPr sz="1200">
              <a:solidFill>
                <a:srgbClr val="A6A6A6"/>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Together, these actions build a framework for smarter outreach, better visibility, and more personalized retention efforts, turning predictive insights into strategic advantage.</a:t>
            </a:r>
            <a:endParaRPr sz="1200">
              <a:solidFill>
                <a:schemeClr val="dk1"/>
              </a:solidFill>
              <a:latin typeface="Aptos"/>
              <a:ea typeface="Aptos"/>
              <a:cs typeface="Aptos"/>
              <a:sym typeface="Aptos"/>
            </a:endParaRPr>
          </a:p>
          <a:p>
            <a:pPr indent="0" lvl="0" marL="0" rtl="0" algn="l">
              <a:spcBef>
                <a:spcPts val="800"/>
              </a:spcBef>
              <a:spcAft>
                <a:spcPts val="0"/>
              </a:spcAft>
              <a:buNone/>
            </a:pPr>
            <a:r>
              <a:t/>
            </a:r>
            <a:endParaRPr/>
          </a:p>
        </p:txBody>
      </p:sp>
      <p:sp>
        <p:nvSpPr>
          <p:cNvPr id="199" name="Google Shape;19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0"/>
              </a:spcAft>
              <a:buClr>
                <a:schemeClr val="dk1"/>
              </a:buClr>
              <a:buSzPts val="1100"/>
              <a:buFont typeface="Arial"/>
              <a:buNone/>
            </a:pPr>
            <a:r>
              <a:rPr lang="en-US" sz="1200">
                <a:solidFill>
                  <a:schemeClr val="dk1"/>
                </a:solidFill>
                <a:latin typeface="Aptos"/>
                <a:ea typeface="Aptos"/>
                <a:cs typeface="Aptos"/>
                <a:sym typeface="Aptos"/>
              </a:rPr>
              <a:t>This study delivers three key benefits that directly support strategic decision-making and operational planning.</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First, the model demonstrates strong classification performance, effectively distinguishing between churned and retained customers. This level of reliability enables confident deployment across retention workflows and supports data-driven prioritization.</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Second, the financial impact is clear. Among the 171 customers flagged as high risk, the average account balance is over $78,000. Retaining just 10% of these individuals, roughly 17 customers, would preserve an estimated $1.34 million in account value per intervention cycle. This quantifiable return on investment makes a strong case for targeted retention strategies based on model outputs.</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Third, while dashboards are not yet implemented, the model’s outputs are structured for seamless integration into stakeholder-facing interfaces. Visualizing churn risk and account-level impact would enhance transparency and allow business teams to act on insights in real time.</a:t>
            </a:r>
            <a:endParaRPr sz="1200">
              <a:solidFill>
                <a:schemeClr val="dk1"/>
              </a:solidFill>
              <a:latin typeface="Aptos"/>
              <a:ea typeface="Aptos"/>
              <a:cs typeface="Aptos"/>
              <a:sym typeface="Aptos"/>
            </a:endParaRPr>
          </a:p>
          <a:p>
            <a:pPr indent="0" lvl="0" marL="0" rtl="0" algn="l">
              <a:lnSpc>
                <a:spcPct val="115833"/>
              </a:lnSpc>
              <a:spcBef>
                <a:spcPts val="800"/>
              </a:spcBef>
              <a:spcAft>
                <a:spcPts val="0"/>
              </a:spcAft>
              <a:buClr>
                <a:schemeClr val="dk1"/>
              </a:buClr>
              <a:buSzPts val="1100"/>
              <a:buFont typeface="Arial"/>
              <a:buNone/>
            </a:pPr>
            <a:r>
              <a:rPr lang="en-US" sz="1200">
                <a:solidFill>
                  <a:schemeClr val="dk1"/>
                </a:solidFill>
                <a:latin typeface="Aptos"/>
                <a:ea typeface="Aptos"/>
                <a:cs typeface="Aptos"/>
                <a:sym typeface="Aptos"/>
              </a:rPr>
              <a:t>Together, these benefits demonstrate that the model is not only technically sound but also operationally valuable. It lays the foundation for scalable, cost-effective retention planning and opens the door for future enhancements like dashboard deployment and segment-specific modeling. </a:t>
            </a:r>
            <a:endParaRPr sz="1200">
              <a:solidFill>
                <a:schemeClr val="dk1"/>
              </a:solidFill>
              <a:latin typeface="Aptos"/>
              <a:ea typeface="Aptos"/>
              <a:cs typeface="Aptos"/>
              <a:sym typeface="Aptos"/>
            </a:endParaRPr>
          </a:p>
          <a:p>
            <a:pPr indent="0" lvl="0" marL="0" rtl="0" algn="l">
              <a:spcBef>
                <a:spcPts val="800"/>
              </a:spcBef>
              <a:spcAft>
                <a:spcPts val="0"/>
              </a:spcAft>
              <a:buNone/>
            </a:pPr>
            <a:r>
              <a:t/>
            </a:r>
            <a:endParaRPr/>
          </a:p>
        </p:txBody>
      </p:sp>
      <p:sp>
        <p:nvSpPr>
          <p:cNvPr id="229" name="Google Shape;2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833"/>
              </a:lnSpc>
              <a:spcBef>
                <a:spcPts val="0"/>
              </a:spcBef>
              <a:spcAft>
                <a:spcPts val="0"/>
              </a:spcAft>
              <a:buClr>
                <a:schemeClr val="dk1"/>
              </a:buClr>
              <a:buSzPts val="1100"/>
              <a:buFont typeface="Arial"/>
              <a:buNone/>
            </a:pPr>
            <a:r>
              <a:rPr lang="en-US" sz="1200">
                <a:solidFill>
                  <a:schemeClr val="dk1"/>
                </a:solidFill>
                <a:latin typeface="Aptos"/>
                <a:ea typeface="Aptos"/>
                <a:cs typeface="Aptos"/>
                <a:sym typeface="Aptos"/>
              </a:rPr>
              <a:t>In summary, this study not only demonstrates strong predictive performance it also delivers actionable insights with measurable financial value. The dual-threshold strategy enables targeted retention planning, and the model’s structure supports seamless integration into business workflows. With clear return on investment and scalable potential, the findings lay a solid foundation for data-driven decision-making and future enhancements.</a:t>
            </a:r>
            <a:endParaRPr sz="1200">
              <a:solidFill>
                <a:schemeClr val="dk1"/>
              </a:solidFill>
              <a:latin typeface="Aptos"/>
              <a:ea typeface="Aptos"/>
              <a:cs typeface="Aptos"/>
              <a:sym typeface="Aptos"/>
            </a:endParaRPr>
          </a:p>
          <a:p>
            <a:pPr indent="0" lvl="0" marL="0" rtl="0" algn="l">
              <a:spcBef>
                <a:spcPts val="800"/>
              </a:spcBef>
              <a:spcAft>
                <a:spcPts val="0"/>
              </a:spcAft>
              <a:buNone/>
            </a:pPr>
            <a:r>
              <a:t/>
            </a:r>
            <a:endParaRPr/>
          </a:p>
        </p:txBody>
      </p:sp>
      <p:sp>
        <p:nvSpPr>
          <p:cNvPr id="242" name="Google Shape;2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FD8DF"/>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1.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3048" y="0"/>
            <a:ext cx="12188952" cy="6858000"/>
          </a:xfrm>
          <a:prstGeom prst="rect">
            <a:avLst/>
          </a:prstGeom>
          <a:solidFill>
            <a:srgbClr val="DFD8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5" name="Google Shape;85;p1"/>
          <p:cNvSpPr/>
          <p:nvPr/>
        </p:nvSpPr>
        <p:spPr>
          <a:xfrm>
            <a:off x="4000500" y="1087403"/>
            <a:ext cx="8191500" cy="5770597"/>
          </a:xfrm>
          <a:custGeom>
            <a:rect b="b" l="l" r="r" t="t"/>
            <a:pathLst>
              <a:path extrusionOk="0" h="5770597" w="8191500">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6" name="Google Shape;86;p1"/>
          <p:cNvSpPr txBox="1"/>
          <p:nvPr>
            <p:ph type="ctrTitle"/>
          </p:nvPr>
        </p:nvSpPr>
        <p:spPr>
          <a:xfrm>
            <a:off x="5093520" y="2744662"/>
            <a:ext cx="6589707" cy="238760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4700"/>
              <a:buFont typeface="Play"/>
              <a:buNone/>
            </a:pPr>
            <a:r>
              <a:rPr lang="en-US" sz="4700">
                <a:solidFill>
                  <a:srgbClr val="FFFFFF"/>
                </a:solidFill>
              </a:rPr>
              <a:t>Predicting Bank Customer Churn with Random Forest Modeling</a:t>
            </a:r>
            <a:endParaRPr/>
          </a:p>
        </p:txBody>
      </p:sp>
      <p:cxnSp>
        <p:nvCxnSpPr>
          <p:cNvPr id="87" name="Google Shape;87;p1"/>
          <p:cNvCxnSpPr/>
          <p:nvPr/>
        </p:nvCxnSpPr>
        <p:spPr>
          <a:xfrm>
            <a:off x="406241" y="183933"/>
            <a:ext cx="0" cy="1597708"/>
          </a:xfrm>
          <a:prstGeom prst="straightConnector1">
            <a:avLst/>
          </a:prstGeom>
          <a:noFill/>
          <a:ln cap="rnd" cmpd="sng" w="127000">
            <a:solidFill>
              <a:schemeClr val="accent4"/>
            </a:solidFill>
            <a:prstDash val="dash"/>
            <a:miter lim="800000"/>
            <a:headEnd len="sm" w="sm" type="none"/>
            <a:tailEnd len="sm" w="sm" type="none"/>
          </a:ln>
        </p:spPr>
      </p:cxnSp>
      <p:sp>
        <p:nvSpPr>
          <p:cNvPr id="88" name="Google Shape;88;p1"/>
          <p:cNvSpPr/>
          <p:nvPr/>
        </p:nvSpPr>
        <p:spPr>
          <a:xfrm>
            <a:off x="5292348" y="1"/>
            <a:ext cx="2279742" cy="1267785"/>
          </a:xfrm>
          <a:custGeom>
            <a:rect b="b" l="l" r="r" t="t"/>
            <a:pathLst>
              <a:path extrusionOk="0" h="1267785" w="2279742">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1"/>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 name="Google Shape;90;p1"/>
          <p:cNvSpPr/>
          <p:nvPr/>
        </p:nvSpPr>
        <p:spPr>
          <a:xfrm>
            <a:off x="1569044" y="514898"/>
            <a:ext cx="2393351" cy="2328423"/>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1" name="Google Shape;91;p1"/>
          <p:cNvSpPr/>
          <p:nvPr/>
        </p:nvSpPr>
        <p:spPr>
          <a:xfrm flipH="1">
            <a:off x="0" y="2949740"/>
            <a:ext cx="1186451" cy="1771650"/>
          </a:xfrm>
          <a:custGeom>
            <a:rect b="b" l="l" r="r" t="t"/>
            <a:pathLst>
              <a:path extrusionOk="0" h="1771650" w="1186451">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1"/>
          <p:cNvSpPr/>
          <p:nvPr/>
        </p:nvSpPr>
        <p:spPr>
          <a:xfrm rot="-5400000">
            <a:off x="1539683" y="4203427"/>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0" y="0"/>
            <a:ext cx="12192000" cy="6858000"/>
          </a:xfrm>
          <a:prstGeom prst="rect">
            <a:avLst/>
          </a:prstGeom>
          <a:solidFill>
            <a:srgbClr val="DFD8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 name="Google Shape;98;p3"/>
          <p:cNvSpPr txBox="1"/>
          <p:nvPr>
            <p:ph type="title"/>
          </p:nvPr>
        </p:nvSpPr>
        <p:spPr>
          <a:xfrm>
            <a:off x="838200" y="365125"/>
            <a:ext cx="539336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Problem Statement and Hypothesis</a:t>
            </a:r>
            <a:endParaRPr/>
          </a:p>
        </p:txBody>
      </p:sp>
      <p:sp>
        <p:nvSpPr>
          <p:cNvPr id="99" name="Google Shape;99;p3"/>
          <p:cNvSpPr/>
          <p:nvPr/>
        </p:nvSpPr>
        <p:spPr>
          <a:xfrm>
            <a:off x="10198657" y="1"/>
            <a:ext cx="1155142" cy="625027"/>
          </a:xfrm>
          <a:custGeom>
            <a:rect b="b" l="l" r="r" t="t"/>
            <a:pathLst>
              <a:path extrusionOk="0" h="625027" w="1155142">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 name="Google Shape;100;p3"/>
          <p:cNvSpPr txBox="1"/>
          <p:nvPr>
            <p:ph idx="1" type="body"/>
          </p:nvPr>
        </p:nvSpPr>
        <p:spPr>
          <a:xfrm>
            <a:off x="838200" y="1825625"/>
            <a:ext cx="5393361"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b="1" lang="en-US" sz="1800"/>
              <a:t>Problem Statement</a:t>
            </a:r>
            <a:endParaRPr/>
          </a:p>
          <a:p>
            <a:pPr indent="-228600" lvl="1" marL="685800" rtl="0" algn="l">
              <a:lnSpc>
                <a:spcPct val="90000"/>
              </a:lnSpc>
              <a:spcBef>
                <a:spcPts val="500"/>
              </a:spcBef>
              <a:spcAft>
                <a:spcPts val="0"/>
              </a:spcAft>
              <a:buClr>
                <a:schemeClr val="dk1"/>
              </a:buClr>
              <a:buSzPts val="1800"/>
              <a:buChar char="•"/>
            </a:pPr>
            <a:r>
              <a:rPr lang="en-US" sz="1800"/>
              <a:t>Customer churn poses a significant financial risk to banks, often resulting in lost revenue, increased acquisition costs, and reduced lifetime customer value. Traditional retention strategies are reactive and lack precision, making it difficult to intervene before a customer leaves.</a:t>
            </a:r>
            <a:endParaRPr b="1" sz="1800"/>
          </a:p>
          <a:p>
            <a:pPr indent="-228600" lvl="0" marL="228600" rtl="0" algn="l">
              <a:lnSpc>
                <a:spcPct val="90000"/>
              </a:lnSpc>
              <a:spcBef>
                <a:spcPts val="1000"/>
              </a:spcBef>
              <a:spcAft>
                <a:spcPts val="0"/>
              </a:spcAft>
              <a:buClr>
                <a:schemeClr val="dk1"/>
              </a:buClr>
              <a:buSzPts val="1800"/>
              <a:buChar char="•"/>
            </a:pPr>
            <a:r>
              <a:rPr b="1" lang="en-US" sz="1800"/>
              <a:t>Hypothesis</a:t>
            </a:r>
            <a:endParaRPr/>
          </a:p>
          <a:p>
            <a:pPr indent="-228600" lvl="1" marL="685800" rtl="0" algn="l">
              <a:lnSpc>
                <a:spcPct val="90000"/>
              </a:lnSpc>
              <a:spcBef>
                <a:spcPts val="500"/>
              </a:spcBef>
              <a:spcAft>
                <a:spcPts val="0"/>
              </a:spcAft>
              <a:buClr>
                <a:schemeClr val="dk1"/>
              </a:buClr>
              <a:buSzPts val="1800"/>
              <a:buChar char="•"/>
            </a:pPr>
            <a:r>
              <a:rPr lang="en-US" sz="1800"/>
              <a:t>By applying supervised machine learning techniques (Random Forest) to historical customer data, we can accurately predict churn risk and uncover key behavioral and demographic drivers.</a:t>
            </a:r>
            <a:endParaRPr/>
          </a:p>
        </p:txBody>
      </p:sp>
      <p:sp>
        <p:nvSpPr>
          <p:cNvPr id="101" name="Google Shape;101;p3"/>
          <p:cNvSpPr/>
          <p:nvPr/>
        </p:nvSpPr>
        <p:spPr>
          <a:xfrm>
            <a:off x="6808185" y="3423959"/>
            <a:ext cx="540822" cy="540822"/>
          </a:xfrm>
          <a:prstGeom prst="ellipse">
            <a:avLst/>
          </a:prstGeom>
          <a:noFill/>
          <a:ln cap="flat" cmpd="sng" w="1270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Puzzle with solid fill" id="102" name="Google Shape;102;p3"/>
          <p:cNvPicPr preferRelativeResize="0"/>
          <p:nvPr/>
        </p:nvPicPr>
        <p:blipFill rotWithShape="1">
          <a:blip r:embed="rId3">
            <a:alphaModFix/>
          </a:blip>
          <a:srcRect b="0" l="0" r="0" t="0"/>
          <a:stretch/>
        </p:blipFill>
        <p:spPr>
          <a:xfrm>
            <a:off x="7918989" y="1216485"/>
            <a:ext cx="3781051" cy="3781051"/>
          </a:xfrm>
          <a:custGeom>
            <a:rect b="b" l="l" r="r" t="t"/>
            <a:pathLst>
              <a:path extrusionOk="0" h="5712488" w="4114800">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a:ln>
            <a:noFill/>
          </a:ln>
        </p:spPr>
      </p:pic>
      <p:sp>
        <p:nvSpPr>
          <p:cNvPr id="103" name="Google Shape;103;p3"/>
          <p:cNvSpPr/>
          <p:nvPr/>
        </p:nvSpPr>
        <p:spPr>
          <a:xfrm>
            <a:off x="6749602" y="1"/>
            <a:ext cx="2066948" cy="1621879"/>
          </a:xfrm>
          <a:custGeom>
            <a:rect b="b" l="l" r="r" t="t"/>
            <a:pathLst>
              <a:path extrusionOk="0" h="1621879" w="2066948">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4" name="Google Shape;104;p3"/>
          <p:cNvCxnSpPr/>
          <p:nvPr/>
        </p:nvCxnSpPr>
        <p:spPr>
          <a:xfrm>
            <a:off x="12138745" y="1027906"/>
            <a:ext cx="0" cy="1597708"/>
          </a:xfrm>
          <a:prstGeom prst="straightConnector1">
            <a:avLst/>
          </a:prstGeom>
          <a:noFill/>
          <a:ln cap="rnd" cmpd="sng" w="127000">
            <a:solidFill>
              <a:schemeClr val="accent4"/>
            </a:solidFill>
            <a:prstDash val="dash"/>
            <a:miter lim="800000"/>
            <a:headEnd len="sm" w="sm" type="none"/>
            <a:tailEnd len="sm" w="sm" type="none"/>
          </a:ln>
        </p:spPr>
      </p:cxnSp>
      <p:sp>
        <p:nvSpPr>
          <p:cNvPr id="105" name="Google Shape;105;p3"/>
          <p:cNvSpPr/>
          <p:nvPr/>
        </p:nvSpPr>
        <p:spPr>
          <a:xfrm rot="-1136562">
            <a:off x="7456580" y="5166682"/>
            <a:ext cx="1835725" cy="2024785"/>
          </a:xfrm>
          <a:custGeom>
            <a:rect b="b" l="l" r="r" t="t"/>
            <a:pathLst>
              <a:path extrusionOk="0" h="2024785" w="183572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3"/>
          <p:cNvSpPr/>
          <p:nvPr/>
        </p:nvSpPr>
        <p:spPr>
          <a:xfrm>
            <a:off x="6809527" y="6033795"/>
            <a:ext cx="1991064" cy="824205"/>
          </a:xfrm>
          <a:custGeom>
            <a:rect b="b" l="l" r="r" t="t"/>
            <a:pathLst>
              <a:path extrusionOk="0" h="824205" w="1991064">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 name="Google Shape;107;p3"/>
          <p:cNvSpPr/>
          <p:nvPr/>
        </p:nvSpPr>
        <p:spPr>
          <a:xfrm>
            <a:off x="10851696" y="5519196"/>
            <a:ext cx="1340305" cy="1338805"/>
          </a:xfrm>
          <a:custGeom>
            <a:rect b="b" l="l" r="r" t="t"/>
            <a:pathLst>
              <a:path extrusionOk="0" h="1338805" w="13403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4"/>
          <p:cNvPicPr preferRelativeResize="0"/>
          <p:nvPr/>
        </p:nvPicPr>
        <p:blipFill rotWithShape="1">
          <a:blip r:embed="rId3">
            <a:alphaModFix/>
          </a:blip>
          <a:srcRect b="8799" l="0" r="0" t="6932"/>
          <a:stretch/>
        </p:blipFill>
        <p:spPr>
          <a:xfrm>
            <a:off x="20" y="10"/>
            <a:ext cx="12191980" cy="6857990"/>
          </a:xfrm>
          <a:prstGeom prst="rect">
            <a:avLst/>
          </a:prstGeom>
          <a:noFill/>
          <a:ln>
            <a:noFill/>
          </a:ln>
        </p:spPr>
      </p:pic>
      <p:sp>
        <p:nvSpPr>
          <p:cNvPr id="113" name="Google Shape;113;p4"/>
          <p:cNvSpPr/>
          <p:nvPr/>
        </p:nvSpPr>
        <p:spPr>
          <a:xfrm>
            <a:off x="0" y="0"/>
            <a:ext cx="12192000" cy="6858000"/>
          </a:xfrm>
          <a:prstGeom prst="rect">
            <a:avLst/>
          </a:prstGeom>
          <a:gradFill>
            <a:gsLst>
              <a:gs pos="0">
                <a:srgbClr val="DCD8DC">
                  <a:alpha val="67843"/>
                </a:srgbClr>
              </a:gs>
              <a:gs pos="10000">
                <a:srgbClr val="DCD8DC">
                  <a:alpha val="67843"/>
                </a:srgbClr>
              </a:gs>
              <a:gs pos="85000">
                <a:srgbClr val="DCD8DC">
                  <a:alpha val="96862"/>
                </a:srgbClr>
              </a:gs>
              <a:gs pos="100000">
                <a:srgbClr val="DCD8DC">
                  <a:alpha val="9686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 name="Google Shape;11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Data Analysis Process</a:t>
            </a:r>
            <a:endParaRPr/>
          </a:p>
        </p:txBody>
      </p:sp>
      <p:grpSp>
        <p:nvGrpSpPr>
          <p:cNvPr id="115" name="Google Shape;115;p4"/>
          <p:cNvGrpSpPr/>
          <p:nvPr/>
        </p:nvGrpSpPr>
        <p:grpSpPr>
          <a:xfrm>
            <a:off x="841757" y="2674859"/>
            <a:ext cx="10508484" cy="2652868"/>
            <a:chOff x="3557" y="849234"/>
            <a:chExt cx="10508484" cy="2652868"/>
          </a:xfrm>
        </p:grpSpPr>
        <p:sp>
          <p:nvSpPr>
            <p:cNvPr id="116" name="Google Shape;116;p4"/>
            <p:cNvSpPr/>
            <p:nvPr/>
          </p:nvSpPr>
          <p:spPr>
            <a:xfrm>
              <a:off x="3557" y="849234"/>
              <a:ext cx="645257" cy="645257"/>
            </a:xfrm>
            <a:prstGeom prst="rect">
              <a:avLst/>
            </a:prstGeom>
            <a:blipFill rotWithShape="1">
              <a:blip r:embed="rId4">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3557" y="1608565"/>
              <a:ext cx="1843593" cy="4407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txBox="1"/>
            <p:nvPr/>
          </p:nvSpPr>
          <p:spPr>
            <a:xfrm>
              <a:off x="3557" y="1608565"/>
              <a:ext cx="1843593" cy="4407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Step 1: Collect the Data</a:t>
              </a:r>
              <a:endParaRPr/>
            </a:p>
          </p:txBody>
        </p:sp>
        <p:sp>
          <p:nvSpPr>
            <p:cNvPr id="119" name="Google Shape;119;p4"/>
            <p:cNvSpPr/>
            <p:nvPr/>
          </p:nvSpPr>
          <p:spPr>
            <a:xfrm>
              <a:off x="3557" y="2102356"/>
              <a:ext cx="1843593" cy="139974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txBox="1"/>
            <p:nvPr/>
          </p:nvSpPr>
          <p:spPr>
            <a:xfrm>
              <a:off x="3557" y="2102356"/>
              <a:ext cx="1843593" cy="139974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Over 10,000 customer records were examined, including age, tenure, account balance, credit score, and product usage.</a:t>
              </a:r>
              <a:endParaRPr/>
            </a:p>
          </p:txBody>
        </p:sp>
        <p:sp>
          <p:nvSpPr>
            <p:cNvPr id="121" name="Google Shape;121;p4"/>
            <p:cNvSpPr/>
            <p:nvPr/>
          </p:nvSpPr>
          <p:spPr>
            <a:xfrm>
              <a:off x="2169780" y="849234"/>
              <a:ext cx="645257" cy="645257"/>
            </a:xfrm>
            <a:prstGeom prst="rect">
              <a:avLst/>
            </a:prstGeom>
            <a:blipFill rotWithShape="1">
              <a:blip r:embed="rId5">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2169780" y="1608565"/>
              <a:ext cx="1843593" cy="4407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txBox="1"/>
            <p:nvPr/>
          </p:nvSpPr>
          <p:spPr>
            <a:xfrm>
              <a:off x="2169780" y="1608565"/>
              <a:ext cx="1843593" cy="4407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Step 2: Clean &amp; Prepare</a:t>
              </a:r>
              <a:endParaRPr/>
            </a:p>
          </p:txBody>
        </p:sp>
        <p:sp>
          <p:nvSpPr>
            <p:cNvPr id="124" name="Google Shape;124;p4"/>
            <p:cNvSpPr/>
            <p:nvPr/>
          </p:nvSpPr>
          <p:spPr>
            <a:xfrm>
              <a:off x="2169780" y="2102356"/>
              <a:ext cx="1843593" cy="139974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txBox="1"/>
            <p:nvPr/>
          </p:nvSpPr>
          <p:spPr>
            <a:xfrm>
              <a:off x="2169780" y="2102356"/>
              <a:ext cx="1843593" cy="139974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The dataset was cleaned and transformed to ensure accuracy and consistency. </a:t>
              </a:r>
              <a:endParaRPr/>
            </a:p>
          </p:txBody>
        </p:sp>
        <p:sp>
          <p:nvSpPr>
            <p:cNvPr id="126" name="Google Shape;126;p4"/>
            <p:cNvSpPr/>
            <p:nvPr/>
          </p:nvSpPr>
          <p:spPr>
            <a:xfrm>
              <a:off x="4336003" y="849234"/>
              <a:ext cx="645257" cy="645257"/>
            </a:xfrm>
            <a:prstGeom prst="rect">
              <a:avLst/>
            </a:prstGeom>
            <a:blipFill rotWithShape="1">
              <a:blip r:embed="rId6">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336003" y="1608565"/>
              <a:ext cx="1843593" cy="4407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txBox="1"/>
            <p:nvPr/>
          </p:nvSpPr>
          <p:spPr>
            <a:xfrm>
              <a:off x="4336003" y="1608565"/>
              <a:ext cx="1843593" cy="4407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Step 3: Build the Model</a:t>
              </a:r>
              <a:endParaRPr/>
            </a:p>
          </p:txBody>
        </p:sp>
        <p:sp>
          <p:nvSpPr>
            <p:cNvPr id="129" name="Google Shape;129;p4"/>
            <p:cNvSpPr/>
            <p:nvPr/>
          </p:nvSpPr>
          <p:spPr>
            <a:xfrm>
              <a:off x="4336003" y="2102356"/>
              <a:ext cx="1843593" cy="139974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txBox="1"/>
            <p:nvPr/>
          </p:nvSpPr>
          <p:spPr>
            <a:xfrm>
              <a:off x="4336003" y="2102356"/>
              <a:ext cx="1843593" cy="139974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A Random Forest model was developed to identify customers at risk of leaving. </a:t>
              </a:r>
              <a:endParaRPr/>
            </a:p>
          </p:txBody>
        </p:sp>
        <p:sp>
          <p:nvSpPr>
            <p:cNvPr id="131" name="Google Shape;131;p4"/>
            <p:cNvSpPr/>
            <p:nvPr/>
          </p:nvSpPr>
          <p:spPr>
            <a:xfrm>
              <a:off x="6502225" y="849234"/>
              <a:ext cx="645257" cy="645257"/>
            </a:xfrm>
            <a:prstGeom prst="rect">
              <a:avLst/>
            </a:prstGeom>
            <a:blipFill rotWithShape="1">
              <a:blip r:embed="rId7">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6502225" y="1608565"/>
              <a:ext cx="1843593" cy="4407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txBox="1"/>
            <p:nvPr/>
          </p:nvSpPr>
          <p:spPr>
            <a:xfrm>
              <a:off x="6502225" y="1608565"/>
              <a:ext cx="1843593" cy="4407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Step 4: Model Evaluation</a:t>
              </a:r>
              <a:endParaRPr/>
            </a:p>
          </p:txBody>
        </p:sp>
        <p:sp>
          <p:nvSpPr>
            <p:cNvPr id="134" name="Google Shape;134;p4"/>
            <p:cNvSpPr/>
            <p:nvPr/>
          </p:nvSpPr>
          <p:spPr>
            <a:xfrm>
              <a:off x="6502225" y="2102356"/>
              <a:ext cx="1843593" cy="139974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txBox="1"/>
            <p:nvPr/>
          </p:nvSpPr>
          <p:spPr>
            <a:xfrm>
              <a:off x="6502225" y="2102356"/>
              <a:ext cx="1843593" cy="139974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The model achieved 85.2% accuracy and a ROC-AUC score of 0.85, indicating reliable performance.</a:t>
              </a:r>
              <a:endParaRPr/>
            </a:p>
          </p:txBody>
        </p:sp>
        <p:sp>
          <p:nvSpPr>
            <p:cNvPr id="136" name="Google Shape;136;p4"/>
            <p:cNvSpPr/>
            <p:nvPr/>
          </p:nvSpPr>
          <p:spPr>
            <a:xfrm>
              <a:off x="8668448" y="849234"/>
              <a:ext cx="645257" cy="645257"/>
            </a:xfrm>
            <a:prstGeom prst="rect">
              <a:avLst/>
            </a:prstGeom>
            <a:blipFill rotWithShape="1">
              <a:blip r:embed="rId8">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8668448" y="1608565"/>
              <a:ext cx="1843593" cy="4407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txBox="1"/>
            <p:nvPr/>
          </p:nvSpPr>
          <p:spPr>
            <a:xfrm>
              <a:off x="8668448" y="1608565"/>
              <a:ext cx="1843593" cy="4407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Step 5: Generate Insights</a:t>
              </a:r>
              <a:endParaRPr/>
            </a:p>
          </p:txBody>
        </p:sp>
        <p:sp>
          <p:nvSpPr>
            <p:cNvPr id="139" name="Google Shape;139;p4"/>
            <p:cNvSpPr/>
            <p:nvPr/>
          </p:nvSpPr>
          <p:spPr>
            <a:xfrm>
              <a:off x="8668448" y="2102356"/>
              <a:ext cx="1843593" cy="139974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8668448" y="2102356"/>
              <a:ext cx="1843593" cy="139974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A prioritized list of high-value, high-risk customers was generated to guide targeted retention efforts. These insights support proactive outreach and help maximize the return on retention strategies.</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p:nvPr/>
        </p:nvSpPr>
        <p:spPr>
          <a:xfrm>
            <a:off x="0" y="0"/>
            <a:ext cx="12192000" cy="6858000"/>
          </a:xfrm>
          <a:prstGeom prst="rect">
            <a:avLst/>
          </a:prstGeom>
          <a:solidFill>
            <a:srgbClr val="DFD8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6" name="Google Shape;146;p5"/>
          <p:cNvSpPr txBox="1"/>
          <p:nvPr>
            <p:ph type="title"/>
          </p:nvPr>
        </p:nvSpPr>
        <p:spPr>
          <a:xfrm>
            <a:off x="1188069" y="381935"/>
            <a:ext cx="9356106" cy="120032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Play"/>
              <a:buNone/>
            </a:pPr>
            <a:r>
              <a:rPr lang="en-US" sz="8000"/>
              <a:t>Outline of Findings</a:t>
            </a:r>
            <a:endParaRPr/>
          </a:p>
        </p:txBody>
      </p:sp>
      <p:grpSp>
        <p:nvGrpSpPr>
          <p:cNvPr id="147" name="Google Shape;147;p5"/>
          <p:cNvGrpSpPr/>
          <p:nvPr/>
        </p:nvGrpSpPr>
        <p:grpSpPr>
          <a:xfrm>
            <a:off x="10994200" y="554152"/>
            <a:ext cx="574177" cy="1075866"/>
            <a:chOff x="10994200" y="554152"/>
            <a:chExt cx="574177" cy="1075866"/>
          </a:xfrm>
        </p:grpSpPr>
        <p:sp>
          <p:nvSpPr>
            <p:cNvPr id="148" name="Google Shape;148;p5"/>
            <p:cNvSpPr/>
            <p:nvPr/>
          </p:nvSpPr>
          <p:spPr>
            <a:xfrm>
              <a:off x="11013369" y="554152"/>
              <a:ext cx="171515" cy="171515"/>
            </a:xfrm>
            <a:custGeom>
              <a:rect b="b" l="l" r="r" t="t"/>
              <a:pathLst>
                <a:path extrusionOk="0" h="171515" w="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5"/>
            <p:cNvSpPr/>
            <p:nvPr/>
          </p:nvSpPr>
          <p:spPr>
            <a:xfrm>
              <a:off x="11455951" y="837005"/>
              <a:ext cx="112426" cy="112426"/>
            </a:xfrm>
            <a:custGeom>
              <a:rect b="b" l="l" r="r" t="t"/>
              <a:pathLst>
                <a:path extrusionOk="0" h="112426" w="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5"/>
            <p:cNvSpPr/>
            <p:nvPr/>
          </p:nvSpPr>
          <p:spPr>
            <a:xfrm>
              <a:off x="10994200" y="1472473"/>
              <a:ext cx="157545" cy="157545"/>
            </a:xfrm>
            <a:custGeom>
              <a:rect b="b" l="l" r="r" t="t"/>
              <a:pathLst>
                <a:path extrusionOk="0" h="157545" w="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51" name="Google Shape;151;p5"/>
          <p:cNvCxnSpPr/>
          <p:nvPr/>
        </p:nvCxnSpPr>
        <p:spPr>
          <a:xfrm>
            <a:off x="623622" y="3610394"/>
            <a:ext cx="0" cy="3238728"/>
          </a:xfrm>
          <a:prstGeom prst="straightConnector1">
            <a:avLst/>
          </a:prstGeom>
          <a:noFill/>
          <a:ln cap="sq" cmpd="sng" w="25400">
            <a:solidFill>
              <a:schemeClr val="accent1"/>
            </a:solidFill>
            <a:prstDash val="solid"/>
            <a:bevel/>
            <a:headEnd len="sm" w="sm" type="none"/>
            <a:tailEnd len="sm" w="sm" type="none"/>
          </a:ln>
        </p:spPr>
      </p:cxnSp>
      <p:grpSp>
        <p:nvGrpSpPr>
          <p:cNvPr id="152" name="Google Shape;152;p5"/>
          <p:cNvGrpSpPr/>
          <p:nvPr/>
        </p:nvGrpSpPr>
        <p:grpSpPr>
          <a:xfrm>
            <a:off x="1188062" y="1826998"/>
            <a:ext cx="9356106" cy="4391453"/>
            <a:chOff x="0" y="1373"/>
            <a:chExt cx="9356106" cy="4391453"/>
          </a:xfrm>
        </p:grpSpPr>
        <p:sp>
          <p:nvSpPr>
            <p:cNvPr id="153" name="Google Shape;153;p5"/>
            <p:cNvSpPr/>
            <p:nvPr/>
          </p:nvSpPr>
          <p:spPr>
            <a:xfrm>
              <a:off x="1871221" y="17278"/>
              <a:ext cx="7484885" cy="1407517"/>
            </a:xfrm>
            <a:prstGeom prst="rect">
              <a:avLst/>
            </a:prstGeom>
            <a:solidFill>
              <a:srgbClr val="D9D8EA">
                <a:alpha val="89803"/>
              </a:srgbClr>
            </a:solidFill>
            <a:ln cap="flat" cmpd="sng" w="19050">
              <a:solidFill>
                <a:srgbClr val="D9D8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txBox="1"/>
            <p:nvPr/>
          </p:nvSpPr>
          <p:spPr>
            <a:xfrm>
              <a:off x="1871221" y="17278"/>
              <a:ext cx="7484885" cy="1407517"/>
            </a:xfrm>
            <a:prstGeom prst="rect">
              <a:avLst/>
            </a:prstGeom>
            <a:noFill/>
            <a:ln>
              <a:noFill/>
            </a:ln>
          </p:spPr>
          <p:txBody>
            <a:bodyPr anchorCtr="0" anchor="ctr" bIns="357500" lIns="145225" spcFirstLastPara="1" rIns="145225" wrap="square" tIns="357500">
              <a:noAutofit/>
            </a:bodyPr>
            <a:lstStyle/>
            <a:p>
              <a:pPr indent="0" lvl="0" marL="0" marR="0" rtl="0" algn="l">
                <a:lnSpc>
                  <a:spcPct val="9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The churn prediction model correctly identified customer behavior in over 85% of cases</a:t>
              </a:r>
              <a:endParaRPr/>
            </a:p>
            <a:p>
              <a:pPr indent="0" lvl="0" marL="0" marR="0" rtl="0" algn="l">
                <a:lnSpc>
                  <a:spcPct val="90000"/>
                </a:lnSpc>
                <a:spcBef>
                  <a:spcPts val="420"/>
                </a:spcBef>
                <a:spcAft>
                  <a:spcPts val="0"/>
                </a:spcAft>
                <a:buClr>
                  <a:schemeClr val="dk1"/>
                </a:buClr>
                <a:buSzPts val="1200"/>
                <a:buFont typeface="Arial"/>
                <a:buNone/>
              </a:pPr>
              <a:r>
                <a:rPr lang="en-US" sz="1200">
                  <a:solidFill>
                    <a:schemeClr val="dk1"/>
                  </a:solidFill>
                  <a:latin typeface="Arial"/>
                  <a:ea typeface="Arial"/>
                  <a:cs typeface="Arial"/>
                  <a:sym typeface="Arial"/>
                </a:rPr>
                <a:t>A performance score of 0.85 (ROC-AUC) confirms the model’s ability to separate likely churners from loyal customers across different risk levels</a:t>
              </a:r>
              <a:endParaRPr/>
            </a:p>
            <a:p>
              <a:pPr indent="0" lvl="0" marL="0" marR="0" rtl="0" algn="l">
                <a:lnSpc>
                  <a:spcPct val="90000"/>
                </a:lnSpc>
                <a:spcBef>
                  <a:spcPts val="420"/>
                </a:spcBef>
                <a:spcAft>
                  <a:spcPts val="0"/>
                </a:spcAft>
                <a:buClr>
                  <a:schemeClr val="dk1"/>
                </a:buClr>
                <a:buSzPts val="1200"/>
                <a:buFont typeface="Arial"/>
                <a:buNone/>
              </a:pPr>
              <a:r>
                <a:rPr lang="en-US" sz="1200">
                  <a:solidFill>
                    <a:schemeClr val="dk1"/>
                  </a:solidFill>
                  <a:latin typeface="Arial"/>
                  <a:ea typeface="Arial"/>
                  <a:cs typeface="Arial"/>
                  <a:sym typeface="Arial"/>
                </a:rPr>
                <a:t>These results exceed industry benchmarks and validate the model for operational use </a:t>
              </a:r>
              <a:r>
                <a:rPr b="0" i="0" lang="en-US" sz="1200">
                  <a:solidFill>
                    <a:schemeClr val="dk1"/>
                  </a:solidFill>
                  <a:latin typeface="Arial"/>
                  <a:ea typeface="Arial"/>
                  <a:cs typeface="Arial"/>
                  <a:sym typeface="Arial"/>
                </a:rPr>
                <a:t>(Crudu, 2025)</a:t>
              </a:r>
              <a:endParaRPr sz="1100">
                <a:solidFill>
                  <a:schemeClr val="dk1"/>
                </a:solidFill>
                <a:latin typeface="Arial"/>
                <a:ea typeface="Arial"/>
                <a:cs typeface="Arial"/>
                <a:sym typeface="Arial"/>
              </a:endParaRPr>
            </a:p>
          </p:txBody>
        </p:sp>
        <p:sp>
          <p:nvSpPr>
            <p:cNvPr id="155" name="Google Shape;155;p5"/>
            <p:cNvSpPr/>
            <p:nvPr/>
          </p:nvSpPr>
          <p:spPr>
            <a:xfrm>
              <a:off x="0" y="1373"/>
              <a:ext cx="1871221" cy="1407517"/>
            </a:xfrm>
            <a:prstGeom prst="rect">
              <a:avLst/>
            </a:prstGeom>
            <a:solidFill>
              <a:srgbClr val="8683C7"/>
            </a:solidFill>
            <a:ln cap="flat" cmpd="sng" w="19050">
              <a:solidFill>
                <a:srgbClr val="8683C7"/>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0" y="1373"/>
              <a:ext cx="1871221" cy="1407517"/>
            </a:xfrm>
            <a:prstGeom prst="rect">
              <a:avLst/>
            </a:prstGeom>
            <a:noFill/>
            <a:ln>
              <a:noFill/>
            </a:ln>
          </p:spPr>
          <p:txBody>
            <a:bodyPr anchorCtr="0" anchor="ctr" bIns="139025" lIns="99000" spcFirstLastPara="1" rIns="99000" wrap="square" tIns="139025">
              <a:noAutofit/>
            </a:bodyPr>
            <a:lstStyle/>
            <a:p>
              <a:pPr indent="0" lvl="0" marL="0" marR="0" rtl="0" algn="ctr">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Strong Model Performance</a:t>
              </a:r>
              <a:endParaRPr/>
            </a:p>
          </p:txBody>
        </p:sp>
        <p:sp>
          <p:nvSpPr>
            <p:cNvPr id="157" name="Google Shape;157;p5"/>
            <p:cNvSpPr/>
            <p:nvPr/>
          </p:nvSpPr>
          <p:spPr>
            <a:xfrm>
              <a:off x="1871221" y="1493341"/>
              <a:ext cx="7484885" cy="1407517"/>
            </a:xfrm>
            <a:prstGeom prst="rect">
              <a:avLst/>
            </a:prstGeom>
            <a:solidFill>
              <a:srgbClr val="D1D4DD">
                <a:alpha val="89803"/>
              </a:srgbClr>
            </a:solidFill>
            <a:ln cap="flat" cmpd="sng" w="19050">
              <a:solidFill>
                <a:srgbClr val="D1D4DD">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txBox="1"/>
            <p:nvPr/>
          </p:nvSpPr>
          <p:spPr>
            <a:xfrm>
              <a:off x="1871221" y="1493341"/>
              <a:ext cx="7484885" cy="1407517"/>
            </a:xfrm>
            <a:prstGeom prst="rect">
              <a:avLst/>
            </a:prstGeom>
            <a:noFill/>
            <a:ln>
              <a:noFill/>
            </a:ln>
          </p:spPr>
          <p:txBody>
            <a:bodyPr anchorCtr="0" anchor="ctr" bIns="357500" lIns="145225" spcFirstLastPara="1" rIns="145225" wrap="square" tIns="357500">
              <a:noAutofit/>
            </a:bodyPr>
            <a:lstStyle/>
            <a:p>
              <a:pPr indent="0" lvl="0" marL="0" marR="0" rtl="0" algn="l">
                <a:lnSpc>
                  <a:spcPct val="9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Out of the test group, the model correctly classified over 1,700 customers</a:t>
              </a:r>
              <a:endParaRPr/>
            </a:p>
            <a:p>
              <a:pPr indent="0" lvl="0" marL="0" marR="0" rtl="0" algn="l">
                <a:lnSpc>
                  <a:spcPct val="90000"/>
                </a:lnSpc>
                <a:spcBef>
                  <a:spcPts val="420"/>
                </a:spcBef>
                <a:spcAft>
                  <a:spcPts val="0"/>
                </a:spcAft>
                <a:buClr>
                  <a:schemeClr val="dk1"/>
                </a:buClr>
                <a:buSzPts val="1200"/>
                <a:buFont typeface="Arial"/>
                <a:buNone/>
              </a:pPr>
              <a:r>
                <a:rPr lang="en-US" sz="1200">
                  <a:solidFill>
                    <a:schemeClr val="dk1"/>
                  </a:solidFill>
                  <a:latin typeface="Arial"/>
                  <a:ea typeface="Arial"/>
                  <a:cs typeface="Arial"/>
                  <a:sym typeface="Arial"/>
                </a:rPr>
                <a:t>Most predictions aligned with actual outcomes, though some churned customers were missed, highlighting areas for future refinement</a:t>
              </a:r>
              <a:endParaRPr/>
            </a:p>
            <a:p>
              <a:pPr indent="0" lvl="0" marL="0" marR="0" rtl="0" algn="l">
                <a:lnSpc>
                  <a:spcPct val="90000"/>
                </a:lnSpc>
                <a:spcBef>
                  <a:spcPts val="420"/>
                </a:spcBef>
                <a:spcAft>
                  <a:spcPts val="0"/>
                </a:spcAft>
                <a:buClr>
                  <a:schemeClr val="dk1"/>
                </a:buClr>
                <a:buSzPts val="1200"/>
                <a:buFont typeface="Arial"/>
                <a:buNone/>
              </a:pPr>
              <a:r>
                <a:rPr lang="en-US" sz="1200">
                  <a:solidFill>
                    <a:schemeClr val="dk1"/>
                  </a:solidFill>
                  <a:latin typeface="Arial"/>
                  <a:ea typeface="Arial"/>
                  <a:cs typeface="Arial"/>
                  <a:sym typeface="Arial"/>
                </a:rPr>
                <a:t>This balance between accuracy and opportunity supports continuous improvement</a:t>
              </a:r>
              <a:endParaRPr/>
            </a:p>
          </p:txBody>
        </p:sp>
        <p:sp>
          <p:nvSpPr>
            <p:cNvPr id="159" name="Google Shape;159;p5"/>
            <p:cNvSpPr/>
            <p:nvPr/>
          </p:nvSpPr>
          <p:spPr>
            <a:xfrm>
              <a:off x="0" y="1493341"/>
              <a:ext cx="1871221" cy="1407517"/>
            </a:xfrm>
            <a:prstGeom prst="rect">
              <a:avLst/>
            </a:prstGeom>
            <a:solidFill>
              <a:srgbClr val="5C739A"/>
            </a:solidFill>
            <a:ln cap="flat" cmpd="sng" w="19050">
              <a:solidFill>
                <a:srgbClr val="5C739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txBox="1"/>
            <p:nvPr/>
          </p:nvSpPr>
          <p:spPr>
            <a:xfrm>
              <a:off x="0" y="1493341"/>
              <a:ext cx="1871221" cy="1407517"/>
            </a:xfrm>
            <a:prstGeom prst="rect">
              <a:avLst/>
            </a:prstGeom>
            <a:noFill/>
            <a:ln>
              <a:noFill/>
            </a:ln>
          </p:spPr>
          <p:txBody>
            <a:bodyPr anchorCtr="0" anchor="ctr" bIns="139025" lIns="99000" spcFirstLastPara="1" rIns="99000" wrap="square" tIns="139025">
              <a:noAutofit/>
            </a:bodyPr>
            <a:lstStyle/>
            <a:p>
              <a:pPr indent="0" lvl="0" marL="0" marR="0" rtl="0" algn="ctr">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Real-World Accuracy</a:t>
              </a:r>
              <a:endParaRPr/>
            </a:p>
          </p:txBody>
        </p:sp>
        <p:sp>
          <p:nvSpPr>
            <p:cNvPr id="161" name="Google Shape;161;p5"/>
            <p:cNvSpPr/>
            <p:nvPr/>
          </p:nvSpPr>
          <p:spPr>
            <a:xfrm>
              <a:off x="1871221" y="2985309"/>
              <a:ext cx="7484885" cy="1407517"/>
            </a:xfrm>
            <a:prstGeom prst="rect">
              <a:avLst/>
            </a:prstGeom>
            <a:solidFill>
              <a:srgbClr val="D3DDE3">
                <a:alpha val="89803"/>
              </a:srgbClr>
            </a:solidFill>
            <a:ln cap="flat" cmpd="sng" w="19050">
              <a:solidFill>
                <a:srgbClr val="D3DDE3">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txBox="1"/>
            <p:nvPr/>
          </p:nvSpPr>
          <p:spPr>
            <a:xfrm>
              <a:off x="1871221" y="2985309"/>
              <a:ext cx="7484885" cy="1407517"/>
            </a:xfrm>
            <a:prstGeom prst="rect">
              <a:avLst/>
            </a:prstGeom>
            <a:noFill/>
            <a:ln>
              <a:noFill/>
            </a:ln>
          </p:spPr>
          <p:txBody>
            <a:bodyPr anchorCtr="0" anchor="ctr" bIns="357500" lIns="145225" spcFirstLastPara="1" rIns="145225" wrap="square" tIns="357500">
              <a:noAutofit/>
            </a:bodyPr>
            <a:lstStyle/>
            <a:p>
              <a:pPr indent="0" lvl="0" marL="0" marR="0" rtl="0" algn="l">
                <a:lnSpc>
                  <a:spcPct val="9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High-risk customers were ranked by account balance to focus retention efforts where they matter most</a:t>
              </a:r>
              <a:endParaRPr/>
            </a:p>
            <a:p>
              <a:pPr indent="0" lvl="0" marL="0" marR="0" rtl="0" algn="l">
                <a:lnSpc>
                  <a:spcPct val="90000"/>
                </a:lnSpc>
                <a:spcBef>
                  <a:spcPts val="420"/>
                </a:spcBef>
                <a:spcAft>
                  <a:spcPts val="0"/>
                </a:spcAft>
                <a:buClr>
                  <a:schemeClr val="dk1"/>
                </a:buClr>
                <a:buSzPts val="1200"/>
                <a:buFont typeface="Arial"/>
                <a:buNone/>
              </a:pPr>
              <a:r>
                <a:rPr lang="en-US" sz="1200">
                  <a:solidFill>
                    <a:schemeClr val="dk1"/>
                  </a:solidFill>
                  <a:latin typeface="Arial"/>
                  <a:ea typeface="Arial"/>
                  <a:cs typeface="Arial"/>
                  <a:sym typeface="Arial"/>
                </a:rPr>
                <a:t>This strategy helps protect the bank’s most valuable relationships and supports ROI-driven outreach</a:t>
              </a:r>
              <a:endParaRPr/>
            </a:p>
            <a:p>
              <a:pPr indent="0" lvl="0" marL="0" marR="0" rtl="0" algn="l">
                <a:lnSpc>
                  <a:spcPct val="90000"/>
                </a:lnSpc>
                <a:spcBef>
                  <a:spcPts val="420"/>
                </a:spcBef>
                <a:spcAft>
                  <a:spcPts val="0"/>
                </a:spcAft>
                <a:buClr>
                  <a:schemeClr val="dk1"/>
                </a:buClr>
                <a:buSzPts val="1200"/>
                <a:buFont typeface="Arial"/>
                <a:buNone/>
              </a:pPr>
              <a:r>
                <a:rPr lang="en-US" sz="1200">
                  <a:solidFill>
                    <a:schemeClr val="dk1"/>
                  </a:solidFill>
                  <a:latin typeface="Arial"/>
                  <a:ea typeface="Arial"/>
                  <a:cs typeface="Arial"/>
                  <a:sym typeface="Arial"/>
                </a:rPr>
                <a:t>Insights from the model guide smarter resource allocation and decision-making</a:t>
              </a:r>
              <a:endParaRPr/>
            </a:p>
          </p:txBody>
        </p:sp>
        <p:sp>
          <p:nvSpPr>
            <p:cNvPr id="163" name="Google Shape;163;p5"/>
            <p:cNvSpPr/>
            <p:nvPr/>
          </p:nvSpPr>
          <p:spPr>
            <a:xfrm>
              <a:off x="0" y="2985309"/>
              <a:ext cx="1871221" cy="1407517"/>
            </a:xfrm>
            <a:prstGeom prst="rect">
              <a:avLst/>
            </a:prstGeom>
            <a:solidFill>
              <a:schemeClr val="accent4"/>
            </a:solidFill>
            <a:ln cap="flat" cmpd="sng" w="19050">
              <a:solidFill>
                <a:schemeClr val="accent4"/>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txBox="1"/>
            <p:nvPr/>
          </p:nvSpPr>
          <p:spPr>
            <a:xfrm>
              <a:off x="0" y="2985309"/>
              <a:ext cx="1871221" cy="1407517"/>
            </a:xfrm>
            <a:prstGeom prst="rect">
              <a:avLst/>
            </a:prstGeom>
            <a:noFill/>
            <a:ln>
              <a:noFill/>
            </a:ln>
          </p:spPr>
          <p:txBody>
            <a:bodyPr anchorCtr="0" anchor="ctr" bIns="139025" lIns="99000" spcFirstLastPara="1" rIns="99000" wrap="square" tIns="139025">
              <a:noAutofit/>
            </a:bodyPr>
            <a:lstStyle/>
            <a:p>
              <a:pPr indent="0" lvl="0" marL="0" marR="0" rtl="0" algn="ctr">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Financial Impact Prioritization</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p:nvPr/>
        </p:nvSpPr>
        <p:spPr>
          <a:xfrm>
            <a:off x="0" y="0"/>
            <a:ext cx="12192000" cy="6858000"/>
          </a:xfrm>
          <a:prstGeom prst="rect">
            <a:avLst/>
          </a:prstGeom>
          <a:solidFill>
            <a:srgbClr val="DFD8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 name="Google Shape;170;p6"/>
          <p:cNvSpPr txBox="1"/>
          <p:nvPr>
            <p:ph type="title"/>
          </p:nvPr>
        </p:nvSpPr>
        <p:spPr>
          <a:xfrm>
            <a:off x="1188069" y="381935"/>
            <a:ext cx="9356106" cy="120032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Play"/>
              <a:buNone/>
            </a:pPr>
            <a:r>
              <a:rPr lang="en-US" sz="5000"/>
              <a:t>Limitations of Tools and Techniques</a:t>
            </a:r>
            <a:endParaRPr/>
          </a:p>
        </p:txBody>
      </p:sp>
      <p:grpSp>
        <p:nvGrpSpPr>
          <p:cNvPr id="171" name="Google Shape;171;p6"/>
          <p:cNvGrpSpPr/>
          <p:nvPr/>
        </p:nvGrpSpPr>
        <p:grpSpPr>
          <a:xfrm>
            <a:off x="10994200" y="554152"/>
            <a:ext cx="574177" cy="1075866"/>
            <a:chOff x="10994200" y="554152"/>
            <a:chExt cx="574177" cy="1075866"/>
          </a:xfrm>
        </p:grpSpPr>
        <p:sp>
          <p:nvSpPr>
            <p:cNvPr id="172" name="Google Shape;172;p6"/>
            <p:cNvSpPr/>
            <p:nvPr/>
          </p:nvSpPr>
          <p:spPr>
            <a:xfrm>
              <a:off x="11013369" y="554152"/>
              <a:ext cx="171515" cy="171515"/>
            </a:xfrm>
            <a:custGeom>
              <a:rect b="b" l="l" r="r" t="t"/>
              <a:pathLst>
                <a:path extrusionOk="0" h="171515" w="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6"/>
            <p:cNvSpPr/>
            <p:nvPr/>
          </p:nvSpPr>
          <p:spPr>
            <a:xfrm>
              <a:off x="11455951" y="837005"/>
              <a:ext cx="112426" cy="112426"/>
            </a:xfrm>
            <a:custGeom>
              <a:rect b="b" l="l" r="r" t="t"/>
              <a:pathLst>
                <a:path extrusionOk="0" h="112426" w="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6"/>
            <p:cNvSpPr/>
            <p:nvPr/>
          </p:nvSpPr>
          <p:spPr>
            <a:xfrm>
              <a:off x="10994200" y="1472473"/>
              <a:ext cx="157545" cy="157545"/>
            </a:xfrm>
            <a:custGeom>
              <a:rect b="b" l="l" r="r" t="t"/>
              <a:pathLst>
                <a:path extrusionOk="0" h="157545" w="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75" name="Google Shape;175;p6"/>
          <p:cNvCxnSpPr/>
          <p:nvPr/>
        </p:nvCxnSpPr>
        <p:spPr>
          <a:xfrm>
            <a:off x="623622" y="3610394"/>
            <a:ext cx="0" cy="3238728"/>
          </a:xfrm>
          <a:prstGeom prst="straightConnector1">
            <a:avLst/>
          </a:prstGeom>
          <a:noFill/>
          <a:ln cap="sq" cmpd="sng" w="25400">
            <a:solidFill>
              <a:schemeClr val="accent1"/>
            </a:solidFill>
            <a:prstDash val="solid"/>
            <a:bevel/>
            <a:headEnd len="sm" w="sm" type="none"/>
            <a:tailEnd len="sm" w="sm" type="none"/>
          </a:ln>
        </p:spPr>
      </p:cxnSp>
      <p:grpSp>
        <p:nvGrpSpPr>
          <p:cNvPr id="176" name="Google Shape;176;p6"/>
          <p:cNvGrpSpPr/>
          <p:nvPr/>
        </p:nvGrpSpPr>
        <p:grpSpPr>
          <a:xfrm>
            <a:off x="1192447" y="2226978"/>
            <a:ext cx="9347335" cy="3591493"/>
            <a:chOff x="4385" y="401353"/>
            <a:chExt cx="9347335" cy="3591493"/>
          </a:xfrm>
        </p:grpSpPr>
        <p:sp>
          <p:nvSpPr>
            <p:cNvPr id="177" name="Google Shape;177;p6"/>
            <p:cNvSpPr/>
            <p:nvPr/>
          </p:nvSpPr>
          <p:spPr>
            <a:xfrm>
              <a:off x="4385" y="401353"/>
              <a:ext cx="1681175" cy="476861"/>
            </a:xfrm>
            <a:prstGeom prst="rect">
              <a:avLst/>
            </a:prstGeom>
            <a:solidFill>
              <a:srgbClr val="8683C7"/>
            </a:solidFill>
            <a:ln cap="flat" cmpd="sng" w="19050">
              <a:solidFill>
                <a:srgbClr val="8683C7"/>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txBox="1"/>
            <p:nvPr/>
          </p:nvSpPr>
          <p:spPr>
            <a:xfrm>
              <a:off x="4385" y="401353"/>
              <a:ext cx="1681175" cy="476861"/>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Clr>
                  <a:schemeClr val="lt1"/>
                </a:buClr>
                <a:buSzPts val="1300"/>
                <a:buFont typeface="Arial"/>
                <a:buNone/>
              </a:pPr>
              <a:r>
                <a:rPr lang="en-US" sz="1300">
                  <a:solidFill>
                    <a:schemeClr val="lt1"/>
                  </a:solidFill>
                  <a:latin typeface="Arial"/>
                  <a:ea typeface="Arial"/>
                  <a:cs typeface="Arial"/>
                  <a:sym typeface="Arial"/>
                </a:rPr>
                <a:t>Data Constraints</a:t>
              </a:r>
              <a:endParaRPr/>
            </a:p>
          </p:txBody>
        </p:sp>
        <p:sp>
          <p:nvSpPr>
            <p:cNvPr id="179" name="Google Shape;179;p6"/>
            <p:cNvSpPr/>
            <p:nvPr/>
          </p:nvSpPr>
          <p:spPr>
            <a:xfrm>
              <a:off x="4385" y="878215"/>
              <a:ext cx="1681175" cy="3114631"/>
            </a:xfrm>
            <a:prstGeom prst="rect">
              <a:avLst/>
            </a:prstGeom>
            <a:solidFill>
              <a:srgbClr val="D9D8EA">
                <a:alpha val="89803"/>
              </a:srgbClr>
            </a:solidFill>
            <a:ln cap="flat" cmpd="sng" w="19050">
              <a:solidFill>
                <a:srgbClr val="D9D8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txBox="1"/>
            <p:nvPr/>
          </p:nvSpPr>
          <p:spPr>
            <a:xfrm>
              <a:off x="4385" y="878215"/>
              <a:ext cx="1681175" cy="3114631"/>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The dataset used was structured and labeled, but lacked behavioral or emotional indicators.</a:t>
              </a:r>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Only 20% of customers were labeled as churned.</a:t>
              </a:r>
              <a:endParaRPr/>
            </a:p>
          </p:txBody>
        </p:sp>
        <p:sp>
          <p:nvSpPr>
            <p:cNvPr id="181" name="Google Shape;181;p6"/>
            <p:cNvSpPr/>
            <p:nvPr/>
          </p:nvSpPr>
          <p:spPr>
            <a:xfrm>
              <a:off x="1920925" y="401353"/>
              <a:ext cx="1681175" cy="476861"/>
            </a:xfrm>
            <a:prstGeom prst="rect">
              <a:avLst/>
            </a:prstGeom>
            <a:solidFill>
              <a:srgbClr val="5C739A"/>
            </a:solidFill>
            <a:ln cap="flat" cmpd="sng" w="19050">
              <a:solidFill>
                <a:srgbClr val="5C739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txBox="1"/>
            <p:nvPr/>
          </p:nvSpPr>
          <p:spPr>
            <a:xfrm>
              <a:off x="1920925" y="401353"/>
              <a:ext cx="1681175" cy="476861"/>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Clr>
                  <a:schemeClr val="lt1"/>
                </a:buClr>
                <a:buSzPts val="1300"/>
                <a:buFont typeface="Arial"/>
                <a:buNone/>
              </a:pPr>
              <a:r>
                <a:rPr lang="en-US" sz="1300">
                  <a:solidFill>
                    <a:schemeClr val="lt1"/>
                  </a:solidFill>
                  <a:latin typeface="Arial"/>
                  <a:ea typeface="Arial"/>
                  <a:cs typeface="Arial"/>
                  <a:sym typeface="Arial"/>
                </a:rPr>
                <a:t>Preparation Tradeoffs</a:t>
              </a:r>
              <a:endParaRPr/>
            </a:p>
          </p:txBody>
        </p:sp>
        <p:sp>
          <p:nvSpPr>
            <p:cNvPr id="183" name="Google Shape;183;p6"/>
            <p:cNvSpPr/>
            <p:nvPr/>
          </p:nvSpPr>
          <p:spPr>
            <a:xfrm>
              <a:off x="1920925" y="878215"/>
              <a:ext cx="1681175" cy="3114631"/>
            </a:xfrm>
            <a:prstGeom prst="rect">
              <a:avLst/>
            </a:prstGeom>
            <a:solidFill>
              <a:srgbClr val="D1D4DD">
                <a:alpha val="89803"/>
              </a:srgbClr>
            </a:solidFill>
            <a:ln cap="flat" cmpd="sng" w="19050">
              <a:solidFill>
                <a:srgbClr val="D1D4DD">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txBox="1"/>
            <p:nvPr/>
          </p:nvSpPr>
          <p:spPr>
            <a:xfrm>
              <a:off x="1920925" y="878215"/>
              <a:ext cx="1681175" cy="3114631"/>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Missing data was removed to maintain consistency, which reduced the sample size and may have excluded informative records.</a:t>
              </a:r>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Outliers were adjusted to prevent distortion, though this may have masked meaningful customer behaviors.</a:t>
              </a:r>
              <a:endParaRPr/>
            </a:p>
          </p:txBody>
        </p:sp>
        <p:sp>
          <p:nvSpPr>
            <p:cNvPr id="185" name="Google Shape;185;p6"/>
            <p:cNvSpPr/>
            <p:nvPr/>
          </p:nvSpPr>
          <p:spPr>
            <a:xfrm>
              <a:off x="3837465" y="401353"/>
              <a:ext cx="1681175" cy="476861"/>
            </a:xfrm>
            <a:prstGeom prst="rect">
              <a:avLst/>
            </a:prstGeom>
            <a:solidFill>
              <a:schemeClr val="accent4"/>
            </a:solidFill>
            <a:ln cap="flat" cmpd="sng" w="19050">
              <a:solidFill>
                <a:schemeClr val="accent4"/>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txBox="1"/>
            <p:nvPr/>
          </p:nvSpPr>
          <p:spPr>
            <a:xfrm>
              <a:off x="3837465" y="401353"/>
              <a:ext cx="1681175" cy="476861"/>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Clr>
                  <a:schemeClr val="lt1"/>
                </a:buClr>
                <a:buSzPts val="1300"/>
                <a:buFont typeface="Arial"/>
                <a:buNone/>
              </a:pPr>
              <a:r>
                <a:rPr lang="en-US" sz="1300">
                  <a:solidFill>
                    <a:schemeClr val="lt1"/>
                  </a:solidFill>
                  <a:latin typeface="Arial"/>
                  <a:ea typeface="Arial"/>
                  <a:cs typeface="Arial"/>
                  <a:sym typeface="Arial"/>
                </a:rPr>
                <a:t>Model Transparency</a:t>
              </a:r>
              <a:endParaRPr/>
            </a:p>
          </p:txBody>
        </p:sp>
        <p:sp>
          <p:nvSpPr>
            <p:cNvPr id="187" name="Google Shape;187;p6"/>
            <p:cNvSpPr/>
            <p:nvPr/>
          </p:nvSpPr>
          <p:spPr>
            <a:xfrm>
              <a:off x="3837465" y="878215"/>
              <a:ext cx="1681175" cy="3114631"/>
            </a:xfrm>
            <a:prstGeom prst="rect">
              <a:avLst/>
            </a:prstGeom>
            <a:solidFill>
              <a:srgbClr val="D3DDE3">
                <a:alpha val="89803"/>
              </a:srgbClr>
            </a:solidFill>
            <a:ln cap="flat" cmpd="sng" w="19050">
              <a:solidFill>
                <a:srgbClr val="D3DDE3">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txBox="1"/>
            <p:nvPr/>
          </p:nvSpPr>
          <p:spPr>
            <a:xfrm>
              <a:off x="3837465" y="878215"/>
              <a:ext cx="1681175" cy="3114631"/>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Complex decision trees that are difficult to explain in simple terms.</a:t>
              </a:r>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Categorical variables were converted into numeric codes, making interpretation less intuitive.</a:t>
              </a:r>
              <a:endParaRPr/>
            </a:p>
          </p:txBody>
        </p:sp>
        <p:sp>
          <p:nvSpPr>
            <p:cNvPr id="189" name="Google Shape;189;p6"/>
            <p:cNvSpPr/>
            <p:nvPr/>
          </p:nvSpPr>
          <p:spPr>
            <a:xfrm>
              <a:off x="5754005" y="401353"/>
              <a:ext cx="1681175" cy="476861"/>
            </a:xfrm>
            <a:prstGeom prst="rect">
              <a:avLst/>
            </a:prstGeom>
            <a:solidFill>
              <a:schemeClr val="accent5"/>
            </a:solidFill>
            <a:ln cap="flat" cmpd="sng" w="19050">
              <a:solidFill>
                <a:schemeClr val="accent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txBox="1"/>
            <p:nvPr/>
          </p:nvSpPr>
          <p:spPr>
            <a:xfrm>
              <a:off x="5754005" y="401353"/>
              <a:ext cx="1681175" cy="476861"/>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Clr>
                  <a:schemeClr val="lt1"/>
                </a:buClr>
                <a:buSzPts val="1300"/>
                <a:buFont typeface="Arial"/>
                <a:buNone/>
              </a:pPr>
              <a:r>
                <a:rPr lang="en-US" sz="1300">
                  <a:solidFill>
                    <a:schemeClr val="lt1"/>
                  </a:solidFill>
                  <a:latin typeface="Arial"/>
                  <a:ea typeface="Arial"/>
                  <a:cs typeface="Arial"/>
                  <a:sym typeface="Arial"/>
                </a:rPr>
                <a:t>Feature Selection Limitations</a:t>
              </a:r>
              <a:endParaRPr/>
            </a:p>
          </p:txBody>
        </p:sp>
        <p:sp>
          <p:nvSpPr>
            <p:cNvPr id="191" name="Google Shape;191;p6"/>
            <p:cNvSpPr/>
            <p:nvPr/>
          </p:nvSpPr>
          <p:spPr>
            <a:xfrm>
              <a:off x="5754005" y="878215"/>
              <a:ext cx="1681175" cy="3114631"/>
            </a:xfrm>
            <a:prstGeom prst="rect">
              <a:avLst/>
            </a:prstGeom>
            <a:solidFill>
              <a:srgbClr val="D8E2E5">
                <a:alpha val="89803"/>
              </a:srgbClr>
            </a:solidFill>
            <a:ln cap="flat" cmpd="sng" w="19050">
              <a:solidFill>
                <a:srgbClr val="D8E2E5">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txBox="1"/>
            <p:nvPr/>
          </p:nvSpPr>
          <p:spPr>
            <a:xfrm>
              <a:off x="5754005" y="878215"/>
              <a:ext cx="1681175" cy="3114631"/>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Statistical filters were used to select relevant traits, which may have excluded contextually important business features.</a:t>
              </a:r>
              <a:endParaRPr/>
            </a:p>
          </p:txBody>
        </p:sp>
        <p:sp>
          <p:nvSpPr>
            <p:cNvPr id="193" name="Google Shape;193;p6"/>
            <p:cNvSpPr/>
            <p:nvPr/>
          </p:nvSpPr>
          <p:spPr>
            <a:xfrm>
              <a:off x="7670545" y="401353"/>
              <a:ext cx="1681175" cy="476861"/>
            </a:xfrm>
            <a:prstGeom prst="rect">
              <a:avLst/>
            </a:prstGeom>
            <a:solidFill>
              <a:srgbClr val="6D8183"/>
            </a:solidFill>
            <a:ln cap="flat" cmpd="sng" w="19050">
              <a:solidFill>
                <a:srgbClr val="6D818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txBox="1"/>
            <p:nvPr/>
          </p:nvSpPr>
          <p:spPr>
            <a:xfrm>
              <a:off x="7670545" y="401353"/>
              <a:ext cx="1681175" cy="476861"/>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Clr>
                  <a:schemeClr val="lt1"/>
                </a:buClr>
                <a:buSzPts val="1300"/>
                <a:buFont typeface="Arial"/>
                <a:buNone/>
              </a:pPr>
              <a:r>
                <a:rPr lang="en-US" sz="1300">
                  <a:solidFill>
                    <a:schemeClr val="lt1"/>
                  </a:solidFill>
                  <a:latin typeface="Arial"/>
                  <a:ea typeface="Arial"/>
                  <a:cs typeface="Arial"/>
                  <a:sym typeface="Arial"/>
                </a:rPr>
                <a:t>Threshold Strategy</a:t>
              </a:r>
              <a:endParaRPr/>
            </a:p>
          </p:txBody>
        </p:sp>
        <p:sp>
          <p:nvSpPr>
            <p:cNvPr id="195" name="Google Shape;195;p6"/>
            <p:cNvSpPr/>
            <p:nvPr/>
          </p:nvSpPr>
          <p:spPr>
            <a:xfrm>
              <a:off x="7670545" y="878215"/>
              <a:ext cx="1681175" cy="3114631"/>
            </a:xfrm>
            <a:prstGeom prst="rect">
              <a:avLst/>
            </a:prstGeom>
            <a:solidFill>
              <a:srgbClr val="D4D7D8">
                <a:alpha val="89803"/>
              </a:srgbClr>
            </a:solidFill>
            <a:ln cap="flat" cmpd="sng" w="19050">
              <a:solidFill>
                <a:srgbClr val="D4D7D8">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txBox="1"/>
            <p:nvPr/>
          </p:nvSpPr>
          <p:spPr>
            <a:xfrm>
              <a:off x="7670545" y="878215"/>
              <a:ext cx="1681175" cy="3114631"/>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Two cutoff points were applied. This approach prioritized precision but may have missed customers likely to churn who fell below the stricter threshold.</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Proposed Actions</a:t>
            </a:r>
            <a:endParaRPr/>
          </a:p>
        </p:txBody>
      </p:sp>
      <p:grpSp>
        <p:nvGrpSpPr>
          <p:cNvPr id="202" name="Google Shape;202;p7"/>
          <p:cNvGrpSpPr/>
          <p:nvPr/>
        </p:nvGrpSpPr>
        <p:grpSpPr>
          <a:xfrm>
            <a:off x="838200" y="1829553"/>
            <a:ext cx="10515600" cy="4343480"/>
            <a:chOff x="0" y="3928"/>
            <a:chExt cx="10515600" cy="4343480"/>
          </a:xfrm>
        </p:grpSpPr>
        <p:sp>
          <p:nvSpPr>
            <p:cNvPr id="203" name="Google Shape;203;p7"/>
            <p:cNvSpPr/>
            <p:nvPr/>
          </p:nvSpPr>
          <p:spPr>
            <a:xfrm>
              <a:off x="0" y="3928"/>
              <a:ext cx="10515600" cy="914416"/>
            </a:xfrm>
            <a:prstGeom prst="roundRect">
              <a:avLst>
                <a:gd fmla="val 10000" name="adj"/>
              </a:avLst>
            </a:prstGeom>
            <a:solidFill>
              <a:srgbClr val="E2D8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276611" y="209672"/>
              <a:ext cx="502929" cy="502929"/>
            </a:xfrm>
            <a:prstGeom prst="rect">
              <a:avLst/>
            </a:prstGeom>
            <a:blipFill rotWithShape="1">
              <a:blip r:embed="rId3">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1056151" y="3928"/>
              <a:ext cx="4732020"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txBox="1"/>
            <p:nvPr/>
          </p:nvSpPr>
          <p:spPr>
            <a:xfrm>
              <a:off x="1056151" y="3928"/>
              <a:ext cx="4732020"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Targeted Retention Strategy</a:t>
              </a:r>
              <a:endParaRPr/>
            </a:p>
          </p:txBody>
        </p:sp>
        <p:sp>
          <p:nvSpPr>
            <p:cNvPr id="207" name="Google Shape;207;p7"/>
            <p:cNvSpPr/>
            <p:nvPr/>
          </p:nvSpPr>
          <p:spPr>
            <a:xfrm>
              <a:off x="5788171" y="3928"/>
              <a:ext cx="4726396"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txBox="1"/>
            <p:nvPr/>
          </p:nvSpPr>
          <p:spPr>
            <a:xfrm>
              <a:off x="5788171" y="3928"/>
              <a:ext cx="4726396"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Prioritize outreach to customers with high churn risk and significant account value</a:t>
              </a:r>
              <a:endParaRPr/>
            </a:p>
            <a:p>
              <a:pPr indent="0" lvl="0" marL="0" marR="0" rtl="0" algn="l">
                <a:lnSpc>
                  <a:spcPct val="100000"/>
                </a:lnSpc>
                <a:spcBef>
                  <a:spcPts val="385"/>
                </a:spcBef>
                <a:spcAft>
                  <a:spcPts val="0"/>
                </a:spcAft>
                <a:buClr>
                  <a:schemeClr val="dk1"/>
                </a:buClr>
                <a:buSzPts val="1100"/>
                <a:buFont typeface="Arial"/>
                <a:buNone/>
              </a:pPr>
              <a:r>
                <a:rPr lang="en-US" sz="1100">
                  <a:solidFill>
                    <a:schemeClr val="dk1"/>
                  </a:solidFill>
                  <a:latin typeface="Arial"/>
                  <a:ea typeface="Arial"/>
                  <a:cs typeface="Arial"/>
                  <a:sym typeface="Arial"/>
                </a:rPr>
                <a:t>Maximize ROI by focusing retention efforts on those with the greatest financial impact</a:t>
              </a:r>
              <a:endParaRPr/>
            </a:p>
          </p:txBody>
        </p:sp>
        <p:sp>
          <p:nvSpPr>
            <p:cNvPr id="209" name="Google Shape;209;p7"/>
            <p:cNvSpPr/>
            <p:nvPr/>
          </p:nvSpPr>
          <p:spPr>
            <a:xfrm>
              <a:off x="0" y="1146949"/>
              <a:ext cx="10515600" cy="914416"/>
            </a:xfrm>
            <a:prstGeom prst="roundRect">
              <a:avLst>
                <a:gd fmla="val 10000" name="adj"/>
              </a:avLst>
            </a:prstGeom>
            <a:solidFill>
              <a:srgbClr val="E2D8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276611" y="1352693"/>
              <a:ext cx="502929" cy="502929"/>
            </a:xfrm>
            <a:prstGeom prst="rect">
              <a:avLst/>
            </a:prstGeom>
            <a:blipFill rotWithShape="1">
              <a:blip r:embed="rId4">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1056151" y="1146949"/>
              <a:ext cx="4732020"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txBox="1"/>
            <p:nvPr/>
          </p:nvSpPr>
          <p:spPr>
            <a:xfrm>
              <a:off x="1056151" y="1146949"/>
              <a:ext cx="4732020"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Stakeholder Dashboards</a:t>
              </a:r>
              <a:endParaRPr/>
            </a:p>
          </p:txBody>
        </p:sp>
        <p:sp>
          <p:nvSpPr>
            <p:cNvPr id="213" name="Google Shape;213;p7"/>
            <p:cNvSpPr/>
            <p:nvPr/>
          </p:nvSpPr>
          <p:spPr>
            <a:xfrm>
              <a:off x="5788171" y="1146949"/>
              <a:ext cx="4726396"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txBox="1"/>
            <p:nvPr/>
          </p:nvSpPr>
          <p:spPr>
            <a:xfrm>
              <a:off x="5788171" y="1146949"/>
              <a:ext cx="4726396"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Build visual tools to display churn risk and account importance</a:t>
              </a:r>
              <a:endParaRPr/>
            </a:p>
            <a:p>
              <a:pPr indent="0" lvl="0" marL="0" marR="0" rtl="0" algn="l">
                <a:lnSpc>
                  <a:spcPct val="100000"/>
                </a:lnSpc>
                <a:spcBef>
                  <a:spcPts val="385"/>
                </a:spcBef>
                <a:spcAft>
                  <a:spcPts val="0"/>
                </a:spcAft>
                <a:buClr>
                  <a:schemeClr val="dk1"/>
                </a:buClr>
                <a:buSzPts val="1100"/>
                <a:buFont typeface="Arial"/>
                <a:buNone/>
              </a:pPr>
              <a:r>
                <a:rPr lang="en-US" sz="1100">
                  <a:solidFill>
                    <a:schemeClr val="dk1"/>
                  </a:solidFill>
                  <a:latin typeface="Arial"/>
                  <a:ea typeface="Arial"/>
                  <a:cs typeface="Arial"/>
                  <a:sym typeface="Arial"/>
                </a:rPr>
                <a:t>Promote transparency and informed decision-making across business units</a:t>
              </a:r>
              <a:endParaRPr/>
            </a:p>
          </p:txBody>
        </p:sp>
        <p:sp>
          <p:nvSpPr>
            <p:cNvPr id="215" name="Google Shape;215;p7"/>
            <p:cNvSpPr/>
            <p:nvPr/>
          </p:nvSpPr>
          <p:spPr>
            <a:xfrm>
              <a:off x="0" y="2289971"/>
              <a:ext cx="10515600" cy="914416"/>
            </a:xfrm>
            <a:prstGeom prst="roundRect">
              <a:avLst>
                <a:gd fmla="val 10000" name="adj"/>
              </a:avLst>
            </a:prstGeom>
            <a:solidFill>
              <a:srgbClr val="E2D8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276611" y="2495714"/>
              <a:ext cx="502929" cy="502929"/>
            </a:xfrm>
            <a:prstGeom prst="rect">
              <a:avLst/>
            </a:prstGeom>
            <a:blipFill rotWithShape="1">
              <a:blip r:embed="rId5">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1056151" y="2289971"/>
              <a:ext cx="4732020"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txBox="1"/>
            <p:nvPr/>
          </p:nvSpPr>
          <p:spPr>
            <a:xfrm>
              <a:off x="1056151" y="2289971"/>
              <a:ext cx="4732020"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Segment-Specific Modeling</a:t>
              </a:r>
              <a:endParaRPr/>
            </a:p>
          </p:txBody>
        </p:sp>
        <p:sp>
          <p:nvSpPr>
            <p:cNvPr id="219" name="Google Shape;219;p7"/>
            <p:cNvSpPr/>
            <p:nvPr/>
          </p:nvSpPr>
          <p:spPr>
            <a:xfrm>
              <a:off x="5788171" y="2289971"/>
              <a:ext cx="4726396"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txBox="1"/>
            <p:nvPr/>
          </p:nvSpPr>
          <p:spPr>
            <a:xfrm>
              <a:off x="5788171" y="2289971"/>
              <a:ext cx="4726396"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Develop separate models for key customer segments (for example, geography, tenure, product usage)</a:t>
              </a:r>
              <a:endParaRPr/>
            </a:p>
            <a:p>
              <a:pPr indent="0" lvl="0" marL="0" marR="0" rtl="0" algn="l">
                <a:lnSpc>
                  <a:spcPct val="100000"/>
                </a:lnSpc>
                <a:spcBef>
                  <a:spcPts val="385"/>
                </a:spcBef>
                <a:spcAft>
                  <a:spcPts val="0"/>
                </a:spcAft>
                <a:buClr>
                  <a:schemeClr val="dk1"/>
                </a:buClr>
                <a:buSzPts val="1100"/>
                <a:buFont typeface="Arial"/>
                <a:buNone/>
              </a:pPr>
              <a:r>
                <a:rPr lang="en-US" sz="1100">
                  <a:solidFill>
                    <a:schemeClr val="dk1"/>
                  </a:solidFill>
                  <a:latin typeface="Arial"/>
                  <a:ea typeface="Arial"/>
                  <a:cs typeface="Arial"/>
                  <a:sym typeface="Arial"/>
                </a:rPr>
                <a:t>Improve precision, fairness, and alignment with segment-level business value</a:t>
              </a:r>
              <a:endParaRPr/>
            </a:p>
          </p:txBody>
        </p:sp>
        <p:sp>
          <p:nvSpPr>
            <p:cNvPr id="221" name="Google Shape;221;p7"/>
            <p:cNvSpPr/>
            <p:nvPr/>
          </p:nvSpPr>
          <p:spPr>
            <a:xfrm>
              <a:off x="0" y="3432992"/>
              <a:ext cx="10515600" cy="914416"/>
            </a:xfrm>
            <a:prstGeom prst="roundRect">
              <a:avLst>
                <a:gd fmla="val 10000" name="adj"/>
              </a:avLst>
            </a:prstGeom>
            <a:solidFill>
              <a:srgbClr val="E2D8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276611" y="3638736"/>
              <a:ext cx="502929" cy="502929"/>
            </a:xfrm>
            <a:prstGeom prst="rect">
              <a:avLst/>
            </a:prstGeom>
            <a:blipFill rotWithShape="1">
              <a:blip r:embed="rId6">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1056151" y="3432992"/>
              <a:ext cx="4732020"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txBox="1"/>
            <p:nvPr/>
          </p:nvSpPr>
          <p:spPr>
            <a:xfrm>
              <a:off x="1056151" y="3432992"/>
              <a:ext cx="4732020"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Behavioral &amp; Sentiment Enrichment</a:t>
              </a:r>
              <a:endParaRPr/>
            </a:p>
          </p:txBody>
        </p:sp>
        <p:sp>
          <p:nvSpPr>
            <p:cNvPr id="225" name="Google Shape;225;p7"/>
            <p:cNvSpPr/>
            <p:nvPr/>
          </p:nvSpPr>
          <p:spPr>
            <a:xfrm>
              <a:off x="5788171" y="3432992"/>
              <a:ext cx="4726396" cy="91441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txBox="1"/>
            <p:nvPr/>
          </p:nvSpPr>
          <p:spPr>
            <a:xfrm>
              <a:off x="5788171" y="3432992"/>
              <a:ext cx="4726396" cy="914416"/>
            </a:xfrm>
            <a:prstGeom prst="rect">
              <a:avLst/>
            </a:prstGeom>
            <a:noFill/>
            <a:ln>
              <a:noFill/>
            </a:ln>
          </p:spPr>
          <p:txBody>
            <a:bodyPr anchorCtr="0" anchor="ctr" bIns="96775" lIns="96775" spcFirstLastPara="1" rIns="96775" wrap="square" tIns="9677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Integrate interaction logs, support tickets, and sentiment scores into the dataset</a:t>
              </a:r>
              <a:endParaRPr/>
            </a:p>
            <a:p>
              <a:pPr indent="0" lvl="0" marL="0" marR="0" rtl="0" algn="l">
                <a:lnSpc>
                  <a:spcPct val="100000"/>
                </a:lnSpc>
                <a:spcBef>
                  <a:spcPts val="385"/>
                </a:spcBef>
                <a:spcAft>
                  <a:spcPts val="0"/>
                </a:spcAft>
                <a:buClr>
                  <a:schemeClr val="dk1"/>
                </a:buClr>
                <a:buSzPts val="1100"/>
                <a:buFont typeface="Arial"/>
                <a:buNone/>
              </a:pPr>
              <a:r>
                <a:rPr lang="en-US" sz="1100">
                  <a:solidFill>
                    <a:schemeClr val="dk1"/>
                  </a:solidFill>
                  <a:latin typeface="Arial"/>
                  <a:ea typeface="Arial"/>
                  <a:cs typeface="Arial"/>
                  <a:sym typeface="Arial"/>
                </a:rPr>
                <a:t>Detect early churn signals and enable empathetic, loyalty-focused retention strategies</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8"/>
          <p:cNvSpPr/>
          <p:nvPr/>
        </p:nvSpPr>
        <p:spPr>
          <a:xfrm>
            <a:off x="0" y="0"/>
            <a:ext cx="12192000" cy="6858000"/>
          </a:xfrm>
          <a:prstGeom prst="rect">
            <a:avLst/>
          </a:prstGeom>
          <a:solidFill>
            <a:srgbClr val="DFD8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8"/>
          <p:cNvSpPr/>
          <p:nvPr/>
        </p:nvSpPr>
        <p:spPr>
          <a:xfrm>
            <a:off x="0" y="0"/>
            <a:ext cx="5779911" cy="6858000"/>
          </a:xfrm>
          <a:prstGeom prst="rect">
            <a:avLst/>
          </a:prstGeom>
          <a:gradFill>
            <a:gsLst>
              <a:gs pos="0">
                <a:schemeClr val="accent1"/>
              </a:gs>
              <a:gs pos="100000">
                <a:schemeClr val="accent2"/>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3" name="Google Shape;233;p8"/>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7400"/>
              <a:buFont typeface="Play"/>
              <a:buNone/>
            </a:pPr>
            <a:r>
              <a:rPr lang="en-US" sz="7100">
                <a:solidFill>
                  <a:srgbClr val="FFFFFF"/>
                </a:solidFill>
              </a:rPr>
              <a:t>Expected Benefits of the Study</a:t>
            </a:r>
            <a:endParaRPr sz="4100"/>
          </a:p>
        </p:txBody>
      </p:sp>
      <p:grpSp>
        <p:nvGrpSpPr>
          <p:cNvPr id="234" name="Google Shape;234;p8"/>
          <p:cNvGrpSpPr/>
          <p:nvPr/>
        </p:nvGrpSpPr>
        <p:grpSpPr>
          <a:xfrm>
            <a:off x="613892" y="554152"/>
            <a:ext cx="574177" cy="1075866"/>
            <a:chOff x="613892" y="554152"/>
            <a:chExt cx="574177" cy="1075866"/>
          </a:xfrm>
        </p:grpSpPr>
        <p:sp>
          <p:nvSpPr>
            <p:cNvPr id="235" name="Google Shape;235;p8"/>
            <p:cNvSpPr/>
            <p:nvPr/>
          </p:nvSpPr>
          <p:spPr>
            <a:xfrm>
              <a:off x="633061" y="554152"/>
              <a:ext cx="171515" cy="171515"/>
            </a:xfrm>
            <a:custGeom>
              <a:rect b="b" l="l" r="r" t="t"/>
              <a:pathLst>
                <a:path extrusionOk="0" h="171515" w="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 name="Google Shape;236;p8"/>
            <p:cNvSpPr/>
            <p:nvPr/>
          </p:nvSpPr>
          <p:spPr>
            <a:xfrm>
              <a:off x="1075643" y="837005"/>
              <a:ext cx="112426" cy="112426"/>
            </a:xfrm>
            <a:custGeom>
              <a:rect b="b" l="l" r="r" t="t"/>
              <a:pathLst>
                <a:path extrusionOk="0" h="112426" w="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 name="Google Shape;237;p8"/>
            <p:cNvSpPr/>
            <p:nvPr/>
          </p:nvSpPr>
          <p:spPr>
            <a:xfrm>
              <a:off x="613892" y="1472473"/>
              <a:ext cx="157545" cy="157545"/>
            </a:xfrm>
            <a:custGeom>
              <a:rect b="b" l="l" r="r" t="t"/>
              <a:pathLst>
                <a:path extrusionOk="0" h="157545" w="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38" name="Google Shape;238;p8"/>
          <p:cNvSpPr txBox="1"/>
          <p:nvPr>
            <p:ph idx="1" type="body"/>
          </p:nvPr>
        </p:nvSpPr>
        <p:spPr>
          <a:xfrm>
            <a:off x="6297233" y="518400"/>
            <a:ext cx="4771607" cy="58379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en-US" sz="1400">
                <a:solidFill>
                  <a:schemeClr val="dk1"/>
                </a:solidFill>
              </a:rPr>
              <a:t>Predictive Accuracy &amp; Reliability</a:t>
            </a:r>
            <a:endParaRPr/>
          </a:p>
          <a:p>
            <a:pPr indent="-228600" lvl="1" marL="685800" rtl="0" algn="l">
              <a:lnSpc>
                <a:spcPct val="90000"/>
              </a:lnSpc>
              <a:spcBef>
                <a:spcPts val="500"/>
              </a:spcBef>
              <a:spcAft>
                <a:spcPts val="0"/>
              </a:spcAft>
              <a:buClr>
                <a:schemeClr val="dk1"/>
              </a:buClr>
              <a:buSzPts val="1400"/>
              <a:buChar char="•"/>
            </a:pPr>
            <a:r>
              <a:rPr lang="en-US" sz="1400">
                <a:solidFill>
                  <a:schemeClr val="dk1"/>
                </a:solidFill>
              </a:rPr>
              <a:t>The model demonstrates strong classification performance, effectively distinguishing churn from non-churn customers</a:t>
            </a:r>
            <a:endParaRPr/>
          </a:p>
          <a:p>
            <a:pPr indent="-228600" lvl="1" marL="685800" rtl="0" algn="l">
              <a:lnSpc>
                <a:spcPct val="90000"/>
              </a:lnSpc>
              <a:spcBef>
                <a:spcPts val="500"/>
              </a:spcBef>
              <a:spcAft>
                <a:spcPts val="0"/>
              </a:spcAft>
              <a:buClr>
                <a:schemeClr val="dk1"/>
              </a:buClr>
              <a:buSzPts val="1400"/>
              <a:buChar char="•"/>
            </a:pPr>
            <a:r>
              <a:rPr lang="en-US" sz="1400">
                <a:solidFill>
                  <a:schemeClr val="dk1"/>
                </a:solidFill>
              </a:rPr>
              <a:t>Enables confident decision-making and supports operational deployment across retention workflows</a:t>
            </a:r>
            <a:endParaRPr/>
          </a:p>
          <a:p>
            <a:pPr indent="-228600" lvl="0" marL="228600" rtl="0" algn="l">
              <a:lnSpc>
                <a:spcPct val="90000"/>
              </a:lnSpc>
              <a:spcBef>
                <a:spcPts val="1000"/>
              </a:spcBef>
              <a:spcAft>
                <a:spcPts val="0"/>
              </a:spcAft>
              <a:buClr>
                <a:schemeClr val="dk1"/>
              </a:buClr>
              <a:buSzPts val="1400"/>
              <a:buChar char="•"/>
            </a:pPr>
            <a:r>
              <a:rPr lang="en-US" sz="1400">
                <a:solidFill>
                  <a:schemeClr val="dk1"/>
                </a:solidFill>
              </a:rPr>
              <a:t>ROI from Targeted Retention</a:t>
            </a:r>
            <a:endParaRPr/>
          </a:p>
          <a:p>
            <a:pPr indent="-228600" lvl="1" marL="685800" rtl="0" algn="l">
              <a:lnSpc>
                <a:spcPct val="90000"/>
              </a:lnSpc>
              <a:spcBef>
                <a:spcPts val="500"/>
              </a:spcBef>
              <a:spcAft>
                <a:spcPts val="0"/>
              </a:spcAft>
              <a:buClr>
                <a:schemeClr val="dk1"/>
              </a:buClr>
              <a:buSzPts val="1400"/>
              <a:buChar char="•"/>
            </a:pPr>
            <a:r>
              <a:rPr lang="en-US" sz="1400">
                <a:solidFill>
                  <a:schemeClr val="dk1"/>
                </a:solidFill>
              </a:rPr>
              <a:t>171 high-risk customers identified with an average account balance of $78,715.36</a:t>
            </a:r>
            <a:endParaRPr/>
          </a:p>
          <a:p>
            <a:pPr indent="-228600" lvl="1" marL="685800" rtl="0" algn="l">
              <a:lnSpc>
                <a:spcPct val="90000"/>
              </a:lnSpc>
              <a:spcBef>
                <a:spcPts val="500"/>
              </a:spcBef>
              <a:spcAft>
                <a:spcPts val="0"/>
              </a:spcAft>
              <a:buClr>
                <a:schemeClr val="dk1"/>
              </a:buClr>
              <a:buSzPts val="1400"/>
              <a:buChar char="•"/>
            </a:pPr>
            <a:r>
              <a:rPr lang="en-US" sz="1400">
                <a:solidFill>
                  <a:schemeClr val="dk1"/>
                </a:solidFill>
              </a:rPr>
              <a:t>Retaining just 10% (17 customers) preserves an estimated $1.34 million in account value per intervention cycle</a:t>
            </a:r>
            <a:endParaRPr/>
          </a:p>
          <a:p>
            <a:pPr indent="-228600" lvl="1" marL="685800" rtl="0" algn="l">
              <a:lnSpc>
                <a:spcPct val="90000"/>
              </a:lnSpc>
              <a:spcBef>
                <a:spcPts val="500"/>
              </a:spcBef>
              <a:spcAft>
                <a:spcPts val="0"/>
              </a:spcAft>
              <a:buClr>
                <a:schemeClr val="dk1"/>
              </a:buClr>
              <a:buSzPts val="1400"/>
              <a:buChar char="•"/>
            </a:pPr>
            <a:r>
              <a:rPr lang="en-US" sz="1400">
                <a:solidFill>
                  <a:schemeClr val="dk1"/>
                </a:solidFill>
              </a:rPr>
              <a:t>Enables cost-effective, high-impact retention planning</a:t>
            </a:r>
            <a:endParaRPr/>
          </a:p>
          <a:p>
            <a:pPr indent="-228600" lvl="0" marL="228600" rtl="0" algn="l">
              <a:lnSpc>
                <a:spcPct val="90000"/>
              </a:lnSpc>
              <a:spcBef>
                <a:spcPts val="1000"/>
              </a:spcBef>
              <a:spcAft>
                <a:spcPts val="0"/>
              </a:spcAft>
              <a:buClr>
                <a:schemeClr val="dk1"/>
              </a:buClr>
              <a:buSzPts val="1400"/>
              <a:buChar char="•"/>
            </a:pPr>
            <a:r>
              <a:rPr lang="en-US" sz="1400">
                <a:solidFill>
                  <a:schemeClr val="dk1"/>
                </a:solidFill>
              </a:rPr>
              <a:t>Dashboard Development Recommended</a:t>
            </a:r>
            <a:endParaRPr/>
          </a:p>
          <a:p>
            <a:pPr indent="-228600" lvl="1" marL="685800" rtl="0" algn="l">
              <a:lnSpc>
                <a:spcPct val="90000"/>
              </a:lnSpc>
              <a:spcBef>
                <a:spcPts val="500"/>
              </a:spcBef>
              <a:spcAft>
                <a:spcPts val="0"/>
              </a:spcAft>
              <a:buClr>
                <a:schemeClr val="dk1"/>
              </a:buClr>
              <a:buSzPts val="1400"/>
              <a:buChar char="•"/>
            </a:pPr>
            <a:r>
              <a:rPr lang="en-US" sz="1400">
                <a:solidFill>
                  <a:schemeClr val="dk1"/>
                </a:solidFill>
              </a:rPr>
              <a:t>While dashboards are not yet implemented, the model’s outputs are structured for integration into stakeholder-facing interfaces</a:t>
            </a:r>
            <a:endParaRPr/>
          </a:p>
          <a:p>
            <a:pPr indent="-228600" lvl="1" marL="685800" rtl="0" algn="l">
              <a:lnSpc>
                <a:spcPct val="90000"/>
              </a:lnSpc>
              <a:spcBef>
                <a:spcPts val="500"/>
              </a:spcBef>
              <a:spcAft>
                <a:spcPts val="0"/>
              </a:spcAft>
              <a:buClr>
                <a:schemeClr val="dk1"/>
              </a:buClr>
              <a:buSzPts val="1400"/>
              <a:buChar char="•"/>
            </a:pPr>
            <a:r>
              <a:rPr lang="en-US" sz="1400">
                <a:solidFill>
                  <a:schemeClr val="dk1"/>
                </a:solidFill>
              </a:rPr>
              <a:t>Visualizing churn risk and account-level impact would enhance transparency and enable real-time decision-making</a:t>
            </a:r>
            <a:endParaRPr/>
          </a:p>
          <a:p>
            <a:pPr indent="-139700" lvl="0" marL="228600" rtl="0" algn="l">
              <a:lnSpc>
                <a:spcPct val="90000"/>
              </a:lnSpc>
              <a:spcBef>
                <a:spcPts val="1000"/>
              </a:spcBef>
              <a:spcAft>
                <a:spcPts val="0"/>
              </a:spcAft>
              <a:buClr>
                <a:schemeClr val="dk1"/>
              </a:buClr>
              <a:buSzPts val="1400"/>
              <a:buNone/>
            </a:pPr>
            <a:r>
              <a:t/>
            </a:r>
            <a:endParaRPr sz="1400">
              <a:solidFill>
                <a:schemeClr val="dk1"/>
              </a:solidFill>
            </a:endParaRPr>
          </a:p>
        </p:txBody>
      </p:sp>
      <p:cxnSp>
        <p:nvCxnSpPr>
          <p:cNvPr id="239" name="Google Shape;239;p8"/>
          <p:cNvCxnSpPr/>
          <p:nvPr/>
        </p:nvCxnSpPr>
        <p:spPr>
          <a:xfrm>
            <a:off x="11586162" y="3610394"/>
            <a:ext cx="0" cy="3238728"/>
          </a:xfrm>
          <a:prstGeom prst="straightConnector1">
            <a:avLst/>
          </a:prstGeom>
          <a:noFill/>
          <a:ln cap="sq" cmpd="sng" w="25400">
            <a:solidFill>
              <a:schemeClr val="accent1"/>
            </a:solidFill>
            <a:prstDash val="solid"/>
            <a:bevel/>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0"/>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10"/>
          <p:cNvSpPr/>
          <p:nvPr/>
        </p:nvSpPr>
        <p:spPr>
          <a:xfrm flipH="1">
            <a:off x="891583" y="775849"/>
            <a:ext cx="2987899" cy="298789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6" name="Google Shape;246;p10"/>
          <p:cNvSpPr/>
          <p:nvPr/>
        </p:nvSpPr>
        <p:spPr>
          <a:xfrm>
            <a:off x="5229419" y="366810"/>
            <a:ext cx="6124381" cy="612438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 name="Google Shape;247;p10"/>
          <p:cNvSpPr txBox="1"/>
          <p:nvPr>
            <p:ph type="ctrTitle"/>
          </p:nvPr>
        </p:nvSpPr>
        <p:spPr>
          <a:xfrm>
            <a:off x="838200" y="647593"/>
            <a:ext cx="4467792" cy="306054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Play"/>
              <a:buNone/>
            </a:pPr>
            <a:r>
              <a:rPr lang="en-US">
                <a:solidFill>
                  <a:srgbClr val="FFFFFF"/>
                </a:solidFill>
              </a:rPr>
              <a:t>Thank you!</a:t>
            </a:r>
            <a:endParaRPr/>
          </a:p>
        </p:txBody>
      </p:sp>
      <p:pic>
        <p:nvPicPr>
          <p:cNvPr descr="Smiling Face with No Fill" id="248" name="Google Shape;248;p10"/>
          <p:cNvPicPr preferRelativeResize="0"/>
          <p:nvPr/>
        </p:nvPicPr>
        <p:blipFill rotWithShape="1">
          <a:blip r:embed="rId3">
            <a:alphaModFix/>
          </a:blip>
          <a:srcRect b="0" l="0" r="0" t="0"/>
          <a:stretch/>
        </p:blipFill>
        <p:spPr>
          <a:xfrm>
            <a:off x="6223623" y="1374798"/>
            <a:ext cx="4108404" cy="4108404"/>
          </a:xfrm>
          <a:custGeom>
            <a:rect b="b" l="l" r="r" t="t"/>
            <a:pathLst>
              <a:path extrusionOk="0" h="4470400" w="4273177">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2025-08-31T23:41:13Z</dcterms:created>
  <dc:creator>Ashley Traore</dc:creator>
</cp:coreProperties>
</file>